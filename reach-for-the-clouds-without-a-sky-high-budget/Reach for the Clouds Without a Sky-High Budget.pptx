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325" r:id="rId5"/>
    <p:sldId id="326" r:id="rId6"/>
    <p:sldId id="258" r:id="rId7"/>
    <p:sldId id="263" r:id="rId8"/>
    <p:sldId id="264" r:id="rId9"/>
    <p:sldId id="356" r:id="rId10"/>
    <p:sldId id="268" r:id="rId11"/>
    <p:sldId id="341" r:id="rId12"/>
    <p:sldId id="342" r:id="rId13"/>
    <p:sldId id="357" r:id="rId14"/>
    <p:sldId id="343" r:id="rId15"/>
    <p:sldId id="351" r:id="rId16"/>
    <p:sldId id="344" r:id="rId17"/>
    <p:sldId id="352" r:id="rId18"/>
    <p:sldId id="345" r:id="rId19"/>
    <p:sldId id="358" r:id="rId20"/>
    <p:sldId id="346" r:id="rId21"/>
    <p:sldId id="353" r:id="rId22"/>
    <p:sldId id="359" r:id="rId23"/>
    <p:sldId id="350" r:id="rId24"/>
    <p:sldId id="354" r:id="rId25"/>
    <p:sldId id="355" r:id="rId26"/>
    <p:sldId id="361" r:id="rId27"/>
    <p:sldId id="362" r:id="rId28"/>
    <p:sldId id="363" r:id="rId29"/>
    <p:sldId id="360" r:id="rId30"/>
    <p:sldId id="266" r:id="rId31"/>
    <p:sldId id="34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6FB"/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40" autoAdjust="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aulaxon.co.uk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inkedin.com/in/axon-pau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killbuilder.aws/" TargetMode="External"/><Relationship Id="rId2" Type="http://schemas.openxmlformats.org/officeDocument/2006/relationships/hyperlink" Target="https://learn.microsoft.com/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skills.google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career-paths/" TargetMode="External"/><Relationship Id="rId2" Type="http://schemas.openxmlformats.org/officeDocument/2006/relationships/hyperlink" Target="https://learn.microsoft.com/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learn.microsoft.com/en-us/credentials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youtube.com/@MicrosoftLearn/courses" TargetMode="External"/><Relationship Id="rId2" Type="http://schemas.openxmlformats.org/officeDocument/2006/relationships/hyperlink" Target="https://learn.microsoft.com/shows" TargetMode="Externa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free/" TargetMode="External"/><Relationship Id="rId2" Type="http://schemas.openxmlformats.org/officeDocument/2006/relationships/hyperlink" Target="https://azure.microsoft.com/free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loud.google.com/free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youtube.com/@MicrosoftLearn/playlists" TargetMode="External"/><Relationship Id="rId2" Type="http://schemas.openxmlformats.org/officeDocument/2006/relationships/hyperlink" Target="https://learn.microsoft.com/en-us/shows/exam-readiness-zone/" TargetMode="Externa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ignite.microsoft.com/" TargetMode="External"/><Relationship Id="rId2" Type="http://schemas.openxmlformats.org/officeDocument/2006/relationships/hyperlink" Target="https://build.microsoft.com/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googlecloudevents.com/" TargetMode="External"/><Relationship Id="rId4" Type="http://schemas.openxmlformats.org/officeDocument/2006/relationships/hyperlink" Target="https://aws.amazon.com/events/reinvent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hyperlink" Target="https://techcommunity.microsoft.com/blog/skills-hub-blog/the-ai-job-boom-is-here-are-you-ready-to-showcase-your-skills/4494128" TargetMode="Externa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Reach for the Clouds Without a Sky-High Budget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Paul Axon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2027583"/>
            <a:ext cx="4114800" cy="419033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Discovering resources</a:t>
            </a:r>
          </a:p>
          <a:p>
            <a:r>
              <a:rPr lang="en-US" dirty="0"/>
              <a:t>Building a learning plan</a:t>
            </a:r>
          </a:p>
          <a:p>
            <a:r>
              <a:rPr lang="en-US" dirty="0"/>
              <a:t>Break</a:t>
            </a:r>
          </a:p>
          <a:p>
            <a:r>
              <a:rPr lang="en-US" dirty="0"/>
              <a:t>Free accounts</a:t>
            </a:r>
          </a:p>
          <a:p>
            <a:r>
              <a:rPr lang="en-US" dirty="0"/>
              <a:t>Tips and tricks</a:t>
            </a:r>
          </a:p>
          <a:p>
            <a:r>
              <a:rPr lang="en-US" dirty="0"/>
              <a:t>Breaking changes</a:t>
            </a:r>
          </a:p>
          <a:p>
            <a:r>
              <a:rPr lang="en-US" dirty="0"/>
              <a:t>Summary</a:t>
            </a:r>
          </a:p>
        </p:txBody>
      </p:sp>
      <p:pic>
        <p:nvPicPr>
          <p:cNvPr id="8" name="Picture Placeholder 7" descr="Pipette diffusing dyes in flasks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5687568" y="1435608"/>
            <a:ext cx="5897880" cy="3977640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/>
          <a:lstStyle/>
          <a:p>
            <a:r>
              <a:rPr lang="en-US" dirty="0"/>
              <a:t>Paul Axon</a:t>
            </a:r>
          </a:p>
        </p:txBody>
      </p:sp>
      <p:pic>
        <p:nvPicPr>
          <p:cNvPr id="6" name="Picture Placeholder 17" descr="Scientist looking at a test tube">
            <a:extLst>
              <a:ext uri="{FF2B5EF4-FFF2-40B4-BE49-F238E27FC236}">
                <a16:creationId xmlns:a16="http://schemas.microsoft.com/office/drawing/2014/main" id="{23F775E2-246C-F1D2-C3A0-D4C55F65CC8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280160" y="548640"/>
            <a:ext cx="3017520" cy="301752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Engineering Manager</a:t>
            </a:r>
          </a:p>
          <a:p>
            <a:r>
              <a:rPr lang="en-US" dirty="0"/>
              <a:t>23 Years experience in </a:t>
            </a:r>
            <a:r>
              <a:rPr lang="en-US" dirty="0" err="1"/>
              <a:t>.Net</a:t>
            </a:r>
            <a:endParaRPr lang="en-US" dirty="0"/>
          </a:p>
          <a:p>
            <a:r>
              <a:rPr lang="en-US" dirty="0"/>
              <a:t>Current organization focuses on c#, MVC &amp; Azure</a:t>
            </a:r>
          </a:p>
          <a:p>
            <a:r>
              <a:rPr lang="en-US" dirty="0"/>
              <a:t>#opentowork</a:t>
            </a:r>
          </a:p>
          <a:p>
            <a:r>
              <a:rPr lang="en-US" dirty="0">
                <a:hlinkClick r:id="rId3"/>
              </a:rPr>
              <a:t>paulaxon.co.uk</a:t>
            </a:r>
            <a:endParaRPr lang="en-US" dirty="0"/>
          </a:p>
          <a:p>
            <a:r>
              <a:rPr lang="en-US" dirty="0">
                <a:hlinkClick r:id="rId4"/>
              </a:rPr>
              <a:t>linkedin.com/in/axon-paul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38"/>
            <a:ext cx="4663440" cy="3566161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r>
              <a:rPr lang="en-US" dirty="0"/>
              <a:t>Business Critical Process ran out of capacity</a:t>
            </a:r>
          </a:p>
          <a:p>
            <a:r>
              <a:rPr lang="en-US" dirty="0"/>
              <a:t>Existing architecture based on apps deployed to Azure Virtual Machines – unable to easily scale individual processes to meet high demand</a:t>
            </a:r>
          </a:p>
          <a:p>
            <a:r>
              <a:rPr lang="en-US" dirty="0"/>
              <a:t>My background is Kubernetes – we needed a solution in Serverless Azure</a:t>
            </a:r>
          </a:p>
          <a:p>
            <a:r>
              <a:rPr lang="en-US" dirty="0"/>
              <a:t>We had a mix of abilities including people with no cloud/Azure experience at all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Needed:</a:t>
            </a:r>
          </a:p>
          <a:p>
            <a:r>
              <a:rPr lang="en-US" dirty="0"/>
              <a:t>A learning plan to suit all abilities</a:t>
            </a:r>
          </a:p>
          <a:p>
            <a:r>
              <a:rPr lang="en-US" dirty="0"/>
              <a:t>Minimal cost</a:t>
            </a:r>
          </a:p>
          <a:p>
            <a:r>
              <a:rPr lang="en-US" dirty="0"/>
              <a:t>Learners should be able to show their progress</a:t>
            </a:r>
          </a:p>
          <a:p>
            <a:r>
              <a:rPr lang="en-US" dirty="0"/>
              <a:t>Work toward an industry-recognized qualification 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00C3C-EC09-EE02-CE15-7E06D914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FA14B7B4-E210-8735-7A9B-0FA59F21DEE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E0CAB88-F1B9-161F-4B39-CB3AA865A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Discovering resources</a:t>
            </a:r>
          </a:p>
        </p:txBody>
      </p:sp>
    </p:spTree>
    <p:extLst>
      <p:ext uri="{BB962C8B-B14F-4D97-AF65-F5344CB8AC3E}">
        <p14:creationId xmlns:p14="http://schemas.microsoft.com/office/powerpoint/2010/main" val="252148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Getting started - exploration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Microsoft Learn</a:t>
            </a:r>
          </a:p>
          <a:p>
            <a:pPr lvl="1"/>
            <a:r>
              <a:rPr lang="en-US" dirty="0">
                <a:hlinkClick r:id="rId2"/>
              </a:rPr>
              <a:t>learn.Microsoft.com</a:t>
            </a:r>
            <a:endParaRPr lang="en-US" dirty="0"/>
          </a:p>
          <a:p>
            <a:r>
              <a:rPr lang="en-US" dirty="0"/>
              <a:t>AWS Skill Builder</a:t>
            </a:r>
          </a:p>
          <a:p>
            <a:pPr lvl="1"/>
            <a:r>
              <a:rPr lang="en-US" dirty="0">
                <a:hlinkClick r:id="rId3"/>
              </a:rPr>
              <a:t>skillbuilder.aws </a:t>
            </a:r>
            <a:endParaRPr lang="en-US" dirty="0"/>
          </a:p>
          <a:p>
            <a:r>
              <a:rPr lang="en-US" dirty="0"/>
              <a:t>Google Cloud Skills Boost</a:t>
            </a:r>
          </a:p>
          <a:p>
            <a:pPr lvl="1"/>
            <a:r>
              <a:rPr lang="en-US" dirty="0">
                <a:hlinkClick r:id="rId4"/>
              </a:rPr>
              <a:t>skills.google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  <a:noFill/>
        </p:spPr>
        <p:txBody>
          <a:bodyPr>
            <a:normAutofit/>
          </a:bodyPr>
          <a:lstStyle/>
          <a:p>
            <a:r>
              <a:rPr lang="en-US" dirty="0"/>
              <a:t>Microsoft Learn</a:t>
            </a:r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2081191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9DF1C-2066-054E-D7B4-83D80D7E6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45DF0-EBFD-9186-B123-DEDC31C5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Microsoft Resources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B6B24F-CFDC-04DB-CF19-7E10FE7B7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815840" cy="3429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General Resources</a:t>
            </a:r>
          </a:p>
          <a:p>
            <a:pPr lvl="1"/>
            <a:r>
              <a:rPr lang="en-US" dirty="0">
                <a:hlinkClick r:id="rId2"/>
              </a:rPr>
              <a:t>learn.Microsoft.com</a:t>
            </a:r>
            <a:endParaRPr lang="en-US" dirty="0"/>
          </a:p>
          <a:p>
            <a:r>
              <a:rPr lang="en-US" dirty="0"/>
              <a:t>Career Paths</a:t>
            </a:r>
          </a:p>
          <a:p>
            <a:pPr lvl="1"/>
            <a:r>
              <a:rPr lang="en-US" dirty="0">
                <a:hlinkClick r:id="rId3"/>
              </a:rPr>
              <a:t>learn.microsoft.com/</a:t>
            </a:r>
            <a:r>
              <a:rPr lang="en-US" dirty="0" err="1">
                <a:hlinkClick r:id="rId3"/>
              </a:rPr>
              <a:t>en</a:t>
            </a:r>
            <a:r>
              <a:rPr lang="en-US" dirty="0">
                <a:hlinkClick r:id="rId3"/>
              </a:rPr>
              <a:t>-us/training/career-paths</a:t>
            </a:r>
            <a:endParaRPr lang="en-US" dirty="0"/>
          </a:p>
          <a:p>
            <a:r>
              <a:rPr lang="en-US" dirty="0"/>
              <a:t>Credentials</a:t>
            </a:r>
          </a:p>
          <a:p>
            <a:pPr lvl="1"/>
            <a:r>
              <a:rPr lang="en-US" dirty="0">
                <a:hlinkClick r:id="rId4"/>
              </a:rPr>
              <a:t>learn.microsoft.com/</a:t>
            </a:r>
            <a:r>
              <a:rPr lang="en-US" dirty="0" err="1">
                <a:hlinkClick r:id="rId4"/>
              </a:rPr>
              <a:t>en</a:t>
            </a:r>
            <a:r>
              <a:rPr lang="en-US" dirty="0">
                <a:hlinkClick r:id="rId4"/>
              </a:rPr>
              <a:t>-us/credentials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21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B94AA-74B3-FE96-CD5F-A122AED9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3F3E85C5-140A-0664-6911-77E2FAB0076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4230920-D0AA-4437-4330-285E6725C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Building a learning plan</a:t>
            </a:r>
          </a:p>
        </p:txBody>
      </p:sp>
    </p:spTree>
    <p:extLst>
      <p:ext uri="{BB962C8B-B14F-4D97-AF65-F5344CB8AC3E}">
        <p14:creationId xmlns:p14="http://schemas.microsoft.com/office/powerpoint/2010/main" val="3339199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A6DBD-B28E-E81B-6D9B-7C01F965D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67FE2-40E4-A1BD-5A5E-08FBD0949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74D6C-2798-BA9D-EB66-8A5FCF273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  <a:noFill/>
        </p:spPr>
        <p:txBody>
          <a:bodyPr>
            <a:normAutofit/>
          </a:bodyPr>
          <a:lstStyle/>
          <a:p>
            <a:r>
              <a:rPr lang="en-US" dirty="0"/>
              <a:t>Creating a Plan</a:t>
            </a:r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DA013DA-0B54-1589-183F-A99927240E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1400024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D9876-6B45-1AE7-0538-7A01E36F2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91B65-80E0-46CF-4A5E-F72A9360A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Plans and Collections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AF71A8C-12CF-B687-10BE-12AB2A071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815840" cy="3429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Save Modules in a Collection</a:t>
            </a:r>
          </a:p>
          <a:p>
            <a:r>
              <a:rPr lang="en-US" dirty="0"/>
              <a:t>Copy a Collection to a Plan</a:t>
            </a:r>
          </a:p>
          <a:p>
            <a:pPr lvl="1"/>
            <a:r>
              <a:rPr lang="en-US" dirty="0"/>
              <a:t>You can share a plan with others</a:t>
            </a:r>
          </a:p>
          <a:p>
            <a:pPr lvl="1"/>
            <a:r>
              <a:rPr lang="en-US" dirty="0"/>
              <a:t>This is a way to create custom learning plans for your team</a:t>
            </a:r>
          </a:p>
          <a:p>
            <a:r>
              <a:rPr lang="en-US" dirty="0"/>
              <a:t>Start a Plan to record your progress</a:t>
            </a:r>
          </a:p>
        </p:txBody>
      </p:sp>
    </p:spTree>
    <p:extLst>
      <p:ext uri="{BB962C8B-B14F-4D97-AF65-F5344CB8AC3E}">
        <p14:creationId xmlns:p14="http://schemas.microsoft.com/office/powerpoint/2010/main" val="562449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4AFDF-E97C-4DBA-43D0-7EC2EE998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57BE9-EAC6-1268-5181-6A1D8B355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437F5-835A-CFA8-C030-A2C45DA94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  <a:noFill/>
        </p:spPr>
        <p:txBody>
          <a:bodyPr>
            <a:normAutofit/>
          </a:bodyPr>
          <a:lstStyle/>
          <a:p>
            <a:r>
              <a:rPr lang="en-US" dirty="0"/>
              <a:t>Shows</a:t>
            </a:r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5246A316-CE18-DEA5-3701-E2526B375D1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1583408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6BCF9-4369-519A-49FE-B0497714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BFF2-A431-E7CE-F83D-4A738CCB1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Shows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01F69DA-D734-1112-68EB-2DA44B10F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815840" cy="3429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Many shows are available at</a:t>
            </a:r>
          </a:p>
          <a:p>
            <a:pPr lvl="1"/>
            <a:r>
              <a:rPr lang="en-US" dirty="0">
                <a:hlinkClick r:id="rId2"/>
              </a:rPr>
              <a:t>learn.Microsoft.com/shows</a:t>
            </a:r>
            <a:endParaRPr lang="en-US" dirty="0"/>
          </a:p>
          <a:p>
            <a:r>
              <a:rPr lang="en-US" dirty="0"/>
              <a:t>You can </a:t>
            </a:r>
            <a:r>
              <a:rPr lang="en-US" i="1" dirty="0"/>
              <a:t>currently</a:t>
            </a:r>
            <a:r>
              <a:rPr lang="en-US" dirty="0"/>
              <a:t> add Exam Readiness videos to a plan</a:t>
            </a:r>
          </a:p>
          <a:p>
            <a:r>
              <a:rPr lang="en-US" dirty="0"/>
              <a:t>Modules for Certification courses are on YouTube</a:t>
            </a:r>
          </a:p>
          <a:p>
            <a:pPr lvl="1"/>
            <a:r>
              <a:rPr lang="en-US" dirty="0">
                <a:hlinkClick r:id="rId3"/>
              </a:rPr>
              <a:t>youtube.com/@MicrosoftLearn/courses</a:t>
            </a:r>
            <a:endParaRPr lang="en-US" dirty="0"/>
          </a:p>
          <a:p>
            <a:pPr lvl="1"/>
            <a:r>
              <a:rPr lang="en-US" dirty="0"/>
              <a:t>… where you can also find the Exam Readiness videos</a:t>
            </a:r>
          </a:p>
          <a:p>
            <a:pPr lvl="1"/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62301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8B41E-19BE-EA74-5CB0-58FDC337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7C4E719-D606-8357-C8F0-B5D128FFE6F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6DE90D6-8F7D-4092-B50B-9CFF34ABB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4199482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0383D-29BA-FF2A-DA36-B7C5B1F8E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7EF14CE8-692E-0589-0DA5-C71A7BCB596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70342B0-5A9D-E39F-B6B8-F857B278B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Creating a free account</a:t>
            </a:r>
          </a:p>
        </p:txBody>
      </p:sp>
    </p:spTree>
    <p:extLst>
      <p:ext uri="{BB962C8B-B14F-4D97-AF65-F5344CB8AC3E}">
        <p14:creationId xmlns:p14="http://schemas.microsoft.com/office/powerpoint/2010/main" val="3971624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C9674-E4FC-10BB-A859-A55FF276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D82B-E5C6-8B2E-3B7D-C2672E507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86943-E8B6-5529-EF43-FE0D6EB42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  <a:noFill/>
        </p:spPr>
        <p:txBody>
          <a:bodyPr>
            <a:normAutofit/>
          </a:bodyPr>
          <a:lstStyle/>
          <a:p>
            <a:r>
              <a:rPr lang="en-US" dirty="0"/>
              <a:t>Create Free Account(s)</a:t>
            </a:r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06E18DDD-060C-C9E5-63C6-180D814420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5439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B0385-2B78-37F7-9DEA-6605553C9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1963-A5CC-C8D2-23A8-524E0DD0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Free Accounts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684E8B-1551-2ABE-EB7D-0F483BA14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2377440"/>
            <a:ext cx="6458373" cy="3429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Azure</a:t>
            </a:r>
          </a:p>
          <a:p>
            <a:pPr lvl="1"/>
            <a:r>
              <a:rPr lang="en-US" dirty="0">
                <a:hlinkClick r:id="rId2"/>
              </a:rPr>
              <a:t>azure.microsoft.com/free</a:t>
            </a:r>
            <a:endParaRPr lang="en-US" dirty="0"/>
          </a:p>
          <a:p>
            <a:r>
              <a:rPr lang="en-US" dirty="0"/>
              <a:t>AWS</a:t>
            </a:r>
          </a:p>
          <a:p>
            <a:pPr lvl="1"/>
            <a:r>
              <a:rPr lang="en-US" dirty="0">
                <a:hlinkClick r:id="rId3"/>
              </a:rPr>
              <a:t>aws.amazon.com/free</a:t>
            </a:r>
            <a:endParaRPr lang="en-US" dirty="0"/>
          </a:p>
          <a:p>
            <a:r>
              <a:rPr lang="en-US" dirty="0"/>
              <a:t>Google</a:t>
            </a:r>
          </a:p>
          <a:p>
            <a:pPr lvl="1"/>
            <a:r>
              <a:rPr lang="en-US" dirty="0">
                <a:hlinkClick r:id="rId4"/>
              </a:rPr>
              <a:t>cloud.google.com/free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920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331F-E18E-CD78-0BD4-842965FB3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74AAFC4C-5FA3-DD15-8868-D9D6CE6AF7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5D3B35E-A20F-1581-DDE9-10F0A4D50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Tips and tricks</a:t>
            </a:r>
          </a:p>
        </p:txBody>
      </p:sp>
    </p:spTree>
    <p:extLst>
      <p:ext uri="{BB962C8B-B14F-4D97-AF65-F5344CB8AC3E}">
        <p14:creationId xmlns:p14="http://schemas.microsoft.com/office/powerpoint/2010/main" val="3017463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FEC2E-9878-EFE1-4844-9A5A6FC5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B0D38-1875-1AF8-270E-D6CBD18EA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1247F-F780-5D47-ACF7-648EAE0E9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  <a:noFill/>
        </p:spPr>
        <p:txBody>
          <a:bodyPr>
            <a:normAutofit/>
          </a:bodyPr>
          <a:lstStyle/>
          <a:p>
            <a:r>
              <a:rPr lang="en-US" dirty="0"/>
              <a:t>Practice Exam + Exam Preparation</a:t>
            </a:r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D56CC975-8AD2-05B2-ED25-52F90E6DAD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1686049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CF48F-277B-D16D-1749-AE4AAD73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441B-E046-7A0C-F6DE-D01DB737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EXAM PREPARATION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0504F4-3FDD-470B-980C-A074B3819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2377440"/>
            <a:ext cx="6458373" cy="3429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Practice Exam is available in the course material</a:t>
            </a:r>
          </a:p>
          <a:p>
            <a:pPr lvl="1"/>
            <a:r>
              <a:rPr lang="en-US" dirty="0"/>
              <a:t>It may contain things that are not completely covered in the training material</a:t>
            </a:r>
          </a:p>
          <a:p>
            <a:r>
              <a:rPr lang="en-US" dirty="0"/>
              <a:t>Preparation videos are </a:t>
            </a:r>
            <a:r>
              <a:rPr lang="en-US" i="1" dirty="0"/>
              <a:t>currently</a:t>
            </a:r>
            <a:r>
              <a:rPr lang="en-US" dirty="0"/>
              <a:t> available at:</a:t>
            </a:r>
          </a:p>
          <a:p>
            <a:pPr lvl="1"/>
            <a:r>
              <a:rPr lang="en-US" dirty="0">
                <a:hlinkClick r:id="rId2"/>
              </a:rPr>
              <a:t>learn.microsoft.com/</a:t>
            </a:r>
            <a:r>
              <a:rPr lang="en-US" dirty="0" err="1">
                <a:hlinkClick r:id="rId2"/>
              </a:rPr>
              <a:t>en</a:t>
            </a:r>
            <a:r>
              <a:rPr lang="en-US" dirty="0">
                <a:hlinkClick r:id="rId2"/>
              </a:rPr>
              <a:t>-us/shows/exam-readiness-zone</a:t>
            </a:r>
            <a:endParaRPr lang="en-US" dirty="0"/>
          </a:p>
          <a:p>
            <a:r>
              <a:rPr lang="en-US" dirty="0"/>
              <a:t>And on YouTube under Playlists</a:t>
            </a:r>
          </a:p>
          <a:p>
            <a:pPr lvl="1"/>
            <a:r>
              <a:rPr lang="en-US" dirty="0">
                <a:hlinkClick r:id="rId3"/>
              </a:rPr>
              <a:t>youtube.com/@MicrosoftLearn/playlists</a:t>
            </a:r>
            <a:endParaRPr lang="en-US" dirty="0"/>
          </a:p>
          <a:p>
            <a:r>
              <a:rPr lang="en-US" dirty="0"/>
              <a:t>You will need to take notes and possibly do additional research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961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Tips and tricks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1604865"/>
            <a:ext cx="7705221" cy="4338735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r>
              <a:rPr lang="en-US" dirty="0"/>
              <a:t>You can watch one video a day at breakfast/lunch</a:t>
            </a:r>
          </a:p>
          <a:p>
            <a:pPr lvl="1"/>
            <a:r>
              <a:rPr lang="en-US" dirty="0"/>
              <a:t>Watch on a laptop</a:t>
            </a:r>
          </a:p>
          <a:p>
            <a:pPr lvl="1"/>
            <a:r>
              <a:rPr lang="en-US" dirty="0"/>
              <a:t>… or tablet</a:t>
            </a:r>
          </a:p>
          <a:p>
            <a:pPr lvl="1"/>
            <a:r>
              <a:rPr lang="en-US" dirty="0"/>
              <a:t>… or cast to your TV</a:t>
            </a:r>
          </a:p>
          <a:p>
            <a:r>
              <a:rPr lang="en-US" dirty="0"/>
              <a:t>Just watching the videos gives you a great deal of knowledge</a:t>
            </a:r>
          </a:p>
          <a:p>
            <a:r>
              <a:rPr lang="en-US" dirty="0"/>
              <a:t>… but it’s worth doing the labs &amp; quick-starts</a:t>
            </a:r>
          </a:p>
          <a:p>
            <a:r>
              <a:rPr lang="en-US" dirty="0"/>
              <a:t>… and you’ll need to take notes if you want to take the exams</a:t>
            </a:r>
          </a:p>
          <a:p>
            <a:r>
              <a:rPr lang="en-US" dirty="0"/>
              <a:t>It’s really worth learning something you can use/practice at work</a:t>
            </a:r>
          </a:p>
          <a:p>
            <a:r>
              <a:rPr lang="en-US" dirty="0"/>
              <a:t>Following a certification/plan/series motivates you to complete your learning</a:t>
            </a:r>
          </a:p>
        </p:txBody>
      </p:sp>
    </p:spTree>
    <p:extLst>
      <p:ext uri="{BB962C8B-B14F-4D97-AF65-F5344CB8AC3E}">
        <p14:creationId xmlns:p14="http://schemas.microsoft.com/office/powerpoint/2010/main" val="1874581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1E626-0217-1463-A433-12654863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C7DF-DF6E-9B15-9F4F-34F23FDE6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Additional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484AC-B264-7514-447E-0E6B60A9AE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1604865"/>
            <a:ext cx="7705221" cy="4338735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r>
              <a:rPr lang="en-US" dirty="0">
                <a:hlinkClick r:id="rId2"/>
              </a:rPr>
              <a:t>Microsoft Build</a:t>
            </a:r>
            <a:endParaRPr lang="en-US" dirty="0"/>
          </a:p>
          <a:p>
            <a:r>
              <a:rPr lang="en-US" dirty="0">
                <a:hlinkClick r:id="rId3"/>
              </a:rPr>
              <a:t>Microsoft Ignite</a:t>
            </a:r>
            <a:endParaRPr lang="en-US" dirty="0"/>
          </a:p>
          <a:p>
            <a:r>
              <a:rPr lang="en-US" dirty="0">
                <a:hlinkClick r:id="rId4"/>
              </a:rPr>
              <a:t>AWS </a:t>
            </a:r>
            <a:r>
              <a:rPr lang="en-US" dirty="0" err="1">
                <a:hlinkClick r:id="rId4"/>
              </a:rPr>
              <a:t>re:Invent</a:t>
            </a:r>
            <a:endParaRPr lang="en-US" dirty="0"/>
          </a:p>
          <a:p>
            <a:r>
              <a:rPr lang="en-US" dirty="0">
                <a:hlinkClick r:id="rId5"/>
              </a:rPr>
              <a:t>Google Cloud Next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646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E20A1-CD79-36C3-C0BF-F8966DA0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F0BCA19C-F7AB-2871-36D0-FBE319B5ECF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8C2980D-0C39-45D7-DDAC-7861041CD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BREAKING CHANGES</a:t>
            </a:r>
          </a:p>
        </p:txBody>
      </p:sp>
    </p:spTree>
    <p:extLst>
      <p:ext uri="{BB962C8B-B14F-4D97-AF65-F5344CB8AC3E}">
        <p14:creationId xmlns:p14="http://schemas.microsoft.com/office/powerpoint/2010/main" val="1793848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FF621-98B5-034B-33FA-11CBD569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65140-9777-2660-52A7-EAE23EF3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Certification changes 2026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F9B4EB-E0FC-25D9-F3E3-BB34D9E11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1772816"/>
            <a:ext cx="6458373" cy="40336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Microsoft are replacing the certifications detailed in the presentation</a:t>
            </a:r>
          </a:p>
          <a:p>
            <a:pPr lvl="1"/>
            <a:r>
              <a:rPr lang="en-US" dirty="0">
                <a:hlinkClick r:id="rId2"/>
              </a:rPr>
              <a:t>The AI Job Boom Is Here. Are You Ready To Showcase Your Skills?</a:t>
            </a:r>
            <a:endParaRPr lang="en-US" dirty="0"/>
          </a:p>
          <a:p>
            <a:pPr lvl="1"/>
            <a:r>
              <a:rPr lang="en-US" dirty="0"/>
              <a:t>The principles detailed in this presentation still apply</a:t>
            </a:r>
          </a:p>
          <a:p>
            <a:r>
              <a:rPr lang="en-US" dirty="0"/>
              <a:t>Could there be introductory pricing on the new Certifications? </a:t>
            </a:r>
          </a:p>
          <a:p>
            <a:r>
              <a:rPr lang="en-US" dirty="0"/>
              <a:t>This year, the Instructor-led training videos moved from Microsoft Learn to YouTube – be aware that further changes may happen</a:t>
            </a:r>
          </a:p>
          <a:p>
            <a:r>
              <a:rPr lang="en-US" dirty="0"/>
              <a:t>Microsoft have a new service to look out for</a:t>
            </a:r>
          </a:p>
          <a:p>
            <a:pPr lvl="1"/>
            <a:r>
              <a:rPr lang="en-US" dirty="0">
                <a:hlinkClick r:id="rId3"/>
              </a:rPr>
              <a:t>AI Skills Navigator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724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98E52-0B36-9108-8E80-E3B15907D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81F1BCD7-ADAD-16C5-98A2-27480ECF5DA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3145FFF-D3AE-A96E-F083-4C5209358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315377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What did we achieve?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1922106"/>
            <a:ext cx="4663440" cy="4021494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EXPECTED</a:t>
            </a:r>
          </a:p>
          <a:p>
            <a:r>
              <a:rPr lang="en-US" dirty="0"/>
              <a:t>Capacity for a business-critical process can now scale up to the maximum allowed by the provider’s rate limit</a:t>
            </a:r>
          </a:p>
          <a:p>
            <a:r>
              <a:rPr lang="en-US" dirty="0"/>
              <a:t>Process is self-healing and scalable under load</a:t>
            </a:r>
          </a:p>
          <a:p>
            <a:r>
              <a:rPr lang="en-US" dirty="0"/>
              <a:t>Team was engaged and all members could participate equally – more junior members coded significant parts of the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922106"/>
            <a:ext cx="4663440" cy="4021494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UNEXPECTED BONUSES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Char char="o"/>
              <a:tabLst/>
              <a:defRPr/>
            </a:pPr>
            <a:r>
              <a:rPr lang="en-US" cap="none" dirty="0">
                <a:solidFill>
                  <a:srgbClr val="000000"/>
                </a:solidFill>
                <a:latin typeface="Daytona Condensed Light"/>
              </a:rPr>
              <a:t>Virtually secret-less deployments. Necessary secrets are stored securely in the cloud.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Char char="o"/>
              <a:tabLst/>
              <a:defRPr/>
            </a:pPr>
            <a:r>
              <a:rPr lang="en-US" cap="none" dirty="0">
                <a:solidFill>
                  <a:srgbClr val="000000"/>
                </a:solidFill>
                <a:latin typeface="Daytona Condensed Light"/>
              </a:rPr>
              <a:t>Intelligent alerting – we only get notified if something needs fixing.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Char char="o"/>
              <a:tabLst/>
              <a:defRPr/>
            </a:pPr>
            <a:r>
              <a:rPr lang="en-US" cap="none" dirty="0">
                <a:solidFill>
                  <a:srgbClr val="000000"/>
                </a:solidFill>
                <a:latin typeface="Daytona Condensed Light"/>
              </a:rPr>
              <a:t>A learning plan that could be shared outside the </a:t>
            </a:r>
            <a:r>
              <a:rPr lang="en-US" cap="none" dirty="0" err="1">
                <a:solidFill>
                  <a:srgbClr val="000000"/>
                </a:solidFill>
                <a:latin typeface="Daytona Condensed Light"/>
              </a:rPr>
              <a:t>organisation</a:t>
            </a:r>
            <a:endParaRPr lang="en-US" cap="none" dirty="0">
              <a:solidFill>
                <a:srgbClr val="000000"/>
              </a:solidFill>
              <a:latin typeface="Daytona Condensed Light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80000"/>
              <a:buFont typeface="Courier New" panose="02070309020205020404" pitchFamily="49" charset="0"/>
              <a:buChar char="o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aytona Condensed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/>
              <a:t>paul axon| paul.axon@gmail.com | paulaxon.co.uk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{8CFB7CD5-1BAE-442F-8CEF-4F66C422D617}TF51de1e5f-e0e8-4dd0-99f3-5b7584f7abdc7d30e886_win32-78d4aef5ad8e</Template>
  <TotalTime>4653</TotalTime>
  <Words>699</Words>
  <Application>Microsoft Office PowerPoint</Application>
  <PresentationFormat>Widescreen</PresentationFormat>
  <Paragraphs>125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Courier New</vt:lpstr>
      <vt:lpstr>Daytona Condensed Light</vt:lpstr>
      <vt:lpstr>Posterama</vt:lpstr>
      <vt:lpstr>Custom</vt:lpstr>
      <vt:lpstr>Reach for the Clouds Without a Sky-High Budget</vt:lpstr>
      <vt:lpstr>agenda</vt:lpstr>
      <vt:lpstr>Introduction</vt:lpstr>
      <vt:lpstr>Paul Axon</vt:lpstr>
      <vt:lpstr>Problem Statement</vt:lpstr>
      <vt:lpstr>Discovering resources</vt:lpstr>
      <vt:lpstr>Getting started - exploration</vt:lpstr>
      <vt:lpstr>DEMO</vt:lpstr>
      <vt:lpstr>Microsoft Resources</vt:lpstr>
      <vt:lpstr>Building a learning plan</vt:lpstr>
      <vt:lpstr>DEMO</vt:lpstr>
      <vt:lpstr>Plans and Collections</vt:lpstr>
      <vt:lpstr>DEMO</vt:lpstr>
      <vt:lpstr>Shows</vt:lpstr>
      <vt:lpstr>BREAK</vt:lpstr>
      <vt:lpstr>Creating a free account</vt:lpstr>
      <vt:lpstr>DEMO</vt:lpstr>
      <vt:lpstr>Free Accounts</vt:lpstr>
      <vt:lpstr>Tips and tricks</vt:lpstr>
      <vt:lpstr>DEMO</vt:lpstr>
      <vt:lpstr>EXAM PREPARATION</vt:lpstr>
      <vt:lpstr>Tips and tricks</vt:lpstr>
      <vt:lpstr>Additional Resources</vt:lpstr>
      <vt:lpstr>BREAKING CHANGES</vt:lpstr>
      <vt:lpstr>Certification changes 2026</vt:lpstr>
      <vt:lpstr>Summary</vt:lpstr>
      <vt:lpstr>What did we achieve?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Axon</dc:creator>
  <cp:lastModifiedBy>Paul Axon</cp:lastModifiedBy>
  <cp:revision>3</cp:revision>
  <dcterms:created xsi:type="dcterms:W3CDTF">2026-03-21T13:39:01Z</dcterms:created>
  <dcterms:modified xsi:type="dcterms:W3CDTF">2026-03-25T15:29:19Z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