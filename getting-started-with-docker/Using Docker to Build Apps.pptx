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60" r:id="rId4"/>
    <p:sldId id="261" r:id="rId5"/>
    <p:sldId id="263" r:id="rId6"/>
    <p:sldId id="269" r:id="rId7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0" d="100"/>
          <a:sy n="90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E3387C1-8EFB-44F7-8485-D662F1CF7333}" type="datetime1">
              <a:rPr lang="en-GB" smtClean="0"/>
              <a:t>29/11/2023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D6434E-09F1-48C0-A525-B5A7008B7802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How presentation will benefit audience: Adult learners are more interested in a subject if they know how or why it is important to them.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Presenter’s level of expertise in the subject: Briefly state your credentials in this area, or explain why participants should listen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b="1" dirty="0"/>
              <a:t>Example objectives</a:t>
            </a:r>
          </a:p>
          <a:p>
            <a:pPr marL="0" indent="0" rtl="0">
              <a:buFont typeface="Arial" panose="020B0604020202020204" pitchFamily="34" charset="0"/>
              <a:buNone/>
            </a:pPr>
            <a:r>
              <a:rPr lang="en-GB" dirty="0"/>
              <a:t>At the end of this lesson, you will be able to: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Save files to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Move files to different locations on the team Web server.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n-GB" dirty="0"/>
              <a:t>Share files on the team Web server.</a:t>
            </a:r>
          </a:p>
          <a:p>
            <a:pPr rtl="0"/>
            <a:endParaRPr lang="en-GB" dirty="0"/>
          </a:p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1050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2674CE4-FBD8-4481-AEFB-CA53E599A745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785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B4AAD351-6347-4318-B935-1E0F1B6A61D6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23539-3F81-4F1E-A9B7-5CE0C1986E23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kumimoji="0"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854DA5-E4EE-42EA-9BC9-3160B1480769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A1BF5D-7537-4BA8-9976-6302714DE26C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8E4797-21F6-4D41-B035-97FEABB63BCE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4EC45D07-A3FD-40EE-BB45-F5E3D0F2E1C8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FFDAF9-DFA9-4947-9568-03347A66D233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en-GB" noProof="0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9D711C-098E-40E1-BE23-CFCA1FAB8359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en-US" noProof="0"/>
              <a:t>Click icon to add picture</a:t>
            </a:r>
            <a:endParaRPr kumimoji="0"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9A7A2F-7C81-4F05-8B4D-4983D3740BAF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en-US" noProof="0"/>
              <a:t>Click to edit Master text styles</a:t>
            </a:r>
          </a:p>
          <a:p>
            <a:pPr lvl="1" rtl="0" eaLnBrk="1" latinLnBrk="0" hangingPunct="1"/>
            <a:r>
              <a:rPr lang="en-US" noProof="0"/>
              <a:t>Second level</a:t>
            </a:r>
          </a:p>
          <a:p>
            <a:pPr lvl="2" rtl="0" eaLnBrk="1" latinLnBrk="0" hangingPunct="1"/>
            <a:r>
              <a:rPr lang="en-US" noProof="0"/>
              <a:t>Third level</a:t>
            </a:r>
          </a:p>
          <a:p>
            <a:pPr lvl="3" rtl="0" eaLnBrk="1" latinLnBrk="0" hangingPunct="1"/>
            <a:r>
              <a:rPr lang="en-US" noProof="0"/>
              <a:t>Fourth level</a:t>
            </a:r>
          </a:p>
          <a:p>
            <a:pPr lvl="4" rtl="0" eaLnBrk="1" latinLnBrk="0" hangingPunct="1"/>
            <a:r>
              <a:rPr lang="en-US" noProof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EB87B0-5071-4BC9-A19F-C3269318028C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en-GB" noProof="0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en-GB" noProof="0" dirty="0"/>
              <a:t>Click to edit Master text styles</a:t>
            </a:r>
          </a:p>
          <a:p>
            <a:pPr lvl="1" rtl="0" eaLnBrk="1" latinLnBrk="0" hangingPunct="1"/>
            <a:r>
              <a:rPr lang="en-GB" noProof="0" dirty="0"/>
              <a:t>Second level</a:t>
            </a:r>
          </a:p>
          <a:p>
            <a:pPr lvl="2" rtl="0" eaLnBrk="1" latinLnBrk="0" hangingPunct="1"/>
            <a:r>
              <a:rPr lang="en-GB" noProof="0" dirty="0"/>
              <a:t>Third level</a:t>
            </a:r>
          </a:p>
          <a:p>
            <a:pPr lvl="3" rtl="0" eaLnBrk="1" latinLnBrk="0" hangingPunct="1"/>
            <a:r>
              <a:rPr lang="en-GB" noProof="0" dirty="0"/>
              <a:t>Fourth level</a:t>
            </a:r>
          </a:p>
          <a:p>
            <a:pPr lvl="4" rtl="0" eaLnBrk="1" latinLnBrk="0" hangingPunct="1"/>
            <a:r>
              <a:rPr lang="en-GB" noProof="0" dirty="0"/>
              <a:t>Fifth level</a:t>
            </a:r>
            <a:endParaRPr kumimoji="0"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B4CBB3-9133-42BF-BC20-6F6E1888C21F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en-GB" sz="1800" noProof="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n-GB" noProof="0" dirty="0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8B045440-74F0-4B44-BEF6-1040C3E911E1}" type="datetime1">
              <a:rPr lang="en-GB" noProof="0" smtClean="0"/>
              <a:t>29/11/2023</a:t>
            </a:fld>
            <a:endParaRPr lang="en-GB" noProof="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xon-pau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paulaxon.co.uk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get-docke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xon-paul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xdev/docker-demo" TargetMode="External"/><Relationship Id="rId5" Type="http://schemas.openxmlformats.org/officeDocument/2006/relationships/hyperlink" Target="https://blog.paulaxon.co.uk/getting-started-with-docker/2021/12/03/evergreen-builds-with-docker.html" TargetMode="External"/><Relationship Id="rId4" Type="http://schemas.openxmlformats.org/officeDocument/2006/relationships/hyperlink" Target="https://blog.paulaxon.co.uk/getting-started-with-docker/2021/12/02/docker-running-container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Using Docker to Build Apps: A Beginner’s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en-GB" dirty="0"/>
              <a:t>Presented by</a:t>
            </a:r>
          </a:p>
          <a:p>
            <a:pPr rtl="0"/>
            <a:r>
              <a:rPr lang="en-GB" dirty="0"/>
              <a:t>Paul Axon</a:t>
            </a:r>
          </a:p>
          <a:p>
            <a:pPr rtl="0"/>
            <a:r>
              <a:rPr lang="en-GB" dirty="0"/>
              <a:t>Engineering Manager, Vero Screening</a:t>
            </a:r>
          </a:p>
          <a:p>
            <a:r>
              <a:rPr lang="en-GB" dirty="0">
                <a:hlinkClick r:id="rId3"/>
              </a:rPr>
              <a:t>https://www.linkedin.com/in/axon-paul/</a:t>
            </a:r>
            <a:endParaRPr lang="en-GB" dirty="0"/>
          </a:p>
          <a:p>
            <a:r>
              <a:rPr lang="en-GB" dirty="0">
                <a:hlinkClick r:id="rId4"/>
              </a:rPr>
              <a:t>https://blog.paulaxon.co.uk/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What is Docker? What are Containers?</a:t>
            </a:r>
          </a:p>
          <a:p>
            <a:r>
              <a:rPr lang="en-US" dirty="0"/>
              <a:t>Running and Interacting with Docker </a:t>
            </a:r>
            <a:r>
              <a:rPr lang="en-US"/>
              <a:t>containers.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03" y="350753"/>
            <a:ext cx="10972800" cy="709519"/>
          </a:xfrm>
        </p:spPr>
        <p:txBody>
          <a:bodyPr rtlCol="0">
            <a:normAutofit/>
          </a:bodyPr>
          <a:lstStyle/>
          <a:p>
            <a:r>
              <a:rPr lang="en-GB" sz="2400" dirty="0"/>
              <a:t>What is Docker? What are Containers?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68672"/>
            <a:ext cx="10972800" cy="5667020"/>
          </a:xfrm>
        </p:spPr>
        <p:txBody>
          <a:bodyPr rtlCol="0">
            <a:normAutofit/>
          </a:bodyPr>
          <a:lstStyle/>
          <a:p>
            <a:r>
              <a:rPr lang="en-GB" sz="1600" dirty="0"/>
              <a:t>Traditionally if you wanted to run a separate working environment with its own versions of tools etc. you would use Virtual Machines.</a:t>
            </a:r>
          </a:p>
          <a:p>
            <a:r>
              <a:rPr lang="en-GB" sz="1600" dirty="0"/>
              <a:t>A Hypervisor allocates a set of resources (CPU, disk, RAM) to a set of Virtual Machines each of which must install an Operating System.</a:t>
            </a:r>
          </a:p>
          <a:p>
            <a:r>
              <a:rPr lang="en-US" sz="1600" dirty="0"/>
              <a:t>It’s heavyweight, complex to set up and not particularly portable or flexible – you can’t easily scale an app as it’s tied to the hardware.</a:t>
            </a:r>
          </a:p>
          <a:p>
            <a:r>
              <a:rPr lang="en-US" sz="1600" dirty="0"/>
              <a:t>Containers are a lightweight system for isolating applications running on the same host operating system.</a:t>
            </a:r>
          </a:p>
          <a:p>
            <a:r>
              <a:rPr lang="en-US" sz="1600" dirty="0"/>
              <a:t>They are a thin layer over the host kernel with supporting apps like a Shell, e.g. Bash and a runtime, e.g. Node or .NET Core.</a:t>
            </a:r>
          </a:p>
          <a:p>
            <a:r>
              <a:rPr lang="en-US" sz="1600" dirty="0"/>
              <a:t>Docker is the most common software used to both build and run Containers.</a:t>
            </a:r>
          </a:p>
          <a:p>
            <a:r>
              <a:rPr lang="en-US" sz="1600" dirty="0"/>
              <a:t>They’re easily scalable because they’re not tied to the hardware.</a:t>
            </a:r>
          </a:p>
          <a:p>
            <a:endParaRPr lang="en-US" sz="1600" dirty="0"/>
          </a:p>
          <a:p>
            <a:pPr marL="109728" indent="0">
              <a:buNone/>
            </a:pPr>
            <a:endParaRPr lang="en-US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602681-B131-085A-8935-C947965A00EE}"/>
              </a:ext>
            </a:extLst>
          </p:cNvPr>
          <p:cNvGrpSpPr/>
          <p:nvPr/>
        </p:nvGrpSpPr>
        <p:grpSpPr>
          <a:xfrm>
            <a:off x="1581716" y="3691156"/>
            <a:ext cx="3975663" cy="2749611"/>
            <a:chOff x="0" y="0"/>
            <a:chExt cx="3096912" cy="22630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B5C6C33-5961-35F8-5CCA-96B591D3FECA}"/>
                </a:ext>
              </a:extLst>
            </p:cNvPr>
            <p:cNvGrpSpPr/>
            <p:nvPr/>
          </p:nvGrpSpPr>
          <p:grpSpPr>
            <a:xfrm>
              <a:off x="0" y="391885"/>
              <a:ext cx="3096912" cy="1871165"/>
              <a:chOff x="0" y="0"/>
              <a:chExt cx="3096912" cy="187116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217FF6A-40F0-5CB0-ABFF-35F4A5C23ACF}"/>
                  </a:ext>
                </a:extLst>
              </p:cNvPr>
              <p:cNvGrpSpPr/>
              <p:nvPr/>
            </p:nvGrpSpPr>
            <p:grpSpPr>
              <a:xfrm>
                <a:off x="3531" y="0"/>
                <a:ext cx="3093381" cy="1190625"/>
                <a:chOff x="0" y="0"/>
                <a:chExt cx="3093381" cy="1190625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590E3141-F178-1BB3-8225-5B72C04B4656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971550" cy="1190625"/>
                  <a:chOff x="0" y="0"/>
                  <a:chExt cx="971550" cy="1190625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B898F711-4EDC-7AD0-501F-3FF04D51026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71550" cy="60007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APP</a:t>
                    </a: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E20820B-74EC-2D36-62D9-BAFA693728BA}"/>
                      </a:ext>
                    </a:extLst>
                  </p:cNvPr>
                  <p:cNvSpPr/>
                  <p:nvPr/>
                </p:nvSpPr>
                <p:spPr>
                  <a:xfrm>
                    <a:off x="0" y="590550"/>
                    <a:ext cx="971550" cy="600075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GUEST</a:t>
                    </a:r>
                  </a:p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OS</a:t>
                    </a:r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AA95B6C6-31B1-5B82-2E71-D00D059E00FF}"/>
                    </a:ext>
                  </a:extLst>
                </p:cNvPr>
                <p:cNvGrpSpPr/>
                <p:nvPr/>
              </p:nvGrpSpPr>
              <p:grpSpPr>
                <a:xfrm>
                  <a:off x="1062681" y="0"/>
                  <a:ext cx="971550" cy="1190625"/>
                  <a:chOff x="0" y="0"/>
                  <a:chExt cx="971550" cy="119062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D5318D1F-B259-1430-ACA9-B51EF35BDA5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71550" cy="60007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APP</a:t>
                    </a:r>
                    <a:endParaRPr lang="en-GB" sz="1100" kern="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79D0D429-50CC-1F54-7818-74FF03452B47}"/>
                      </a:ext>
                    </a:extLst>
                  </p:cNvPr>
                  <p:cNvSpPr/>
                  <p:nvPr/>
                </p:nvSpPr>
                <p:spPr>
                  <a:xfrm>
                    <a:off x="0" y="590550"/>
                    <a:ext cx="971550" cy="600075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GUEST</a:t>
                    </a:r>
                  </a:p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OS</a:t>
                    </a: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56DC977E-305A-B8B1-73F9-D2DAB66FAD47}"/>
                    </a:ext>
                  </a:extLst>
                </p:cNvPr>
                <p:cNvGrpSpPr/>
                <p:nvPr/>
              </p:nvGrpSpPr>
              <p:grpSpPr>
                <a:xfrm>
                  <a:off x="2121831" y="0"/>
                  <a:ext cx="971550" cy="1190625"/>
                  <a:chOff x="0" y="0"/>
                  <a:chExt cx="971550" cy="1190625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90C12A0-6840-CFA5-43AE-A0528E1EAC6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971550" cy="60007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APP</a:t>
                    </a:r>
                    <a:endParaRPr lang="en-GB" sz="1100" kern="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3BBE5211-B7F0-0A27-02EA-C8031CDEC6A4}"/>
                      </a:ext>
                    </a:extLst>
                  </p:cNvPr>
                  <p:cNvSpPr/>
                  <p:nvPr/>
                </p:nvSpPr>
                <p:spPr>
                  <a:xfrm>
                    <a:off x="0" y="590550"/>
                    <a:ext cx="971550" cy="600075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GUEST</a:t>
                    </a:r>
                  </a:p>
                  <a:p>
                    <a:pPr algn="ctr"/>
                    <a:r>
                      <a:rPr lang="en-GB" sz="1100" b="1" kern="100" dirty="0">
                        <a:solidFill>
                          <a:srgbClr val="9933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OS</a:t>
                    </a:r>
                  </a:p>
                </p:txBody>
              </p:sp>
            </p:grp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6B18D13-341C-535E-16BA-F89698F95FA1}"/>
                  </a:ext>
                </a:extLst>
              </p:cNvPr>
              <p:cNvSpPr/>
              <p:nvPr/>
            </p:nvSpPr>
            <p:spPr>
              <a:xfrm>
                <a:off x="0" y="1249797"/>
                <a:ext cx="3096912" cy="28244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effectLst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 dirty="0">
                    <a:solidFill>
                      <a:srgbClr val="9933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HYPERVISOR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A0DB38-AE33-44C6-F941-5A794B85588A}"/>
                  </a:ext>
                </a:extLst>
              </p:cNvPr>
              <p:cNvSpPr/>
              <p:nvPr/>
            </p:nvSpPr>
            <p:spPr>
              <a:xfrm>
                <a:off x="0" y="1588725"/>
                <a:ext cx="3096912" cy="28244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HOST OPERATING SYSTEM</a:t>
                </a:r>
              </a:p>
            </p:txBody>
          </p:sp>
        </p:grpSp>
        <p:sp>
          <p:nvSpPr>
            <p:cNvPr id="6" name="Text Box 1">
              <a:extLst>
                <a:ext uri="{FF2B5EF4-FFF2-40B4-BE49-F238E27FC236}">
                  <a16:creationId xmlns:a16="http://schemas.microsoft.com/office/drawing/2014/main" id="{4B3F7BB2-8835-E935-FB8C-1153F871C489}"/>
                </a:ext>
              </a:extLst>
            </p:cNvPr>
            <p:cNvSpPr txBox="1"/>
            <p:nvPr/>
          </p:nvSpPr>
          <p:spPr>
            <a:xfrm>
              <a:off x="518983" y="0"/>
              <a:ext cx="2058035" cy="324485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kern="1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VIRTUAL MACHINES</a:t>
              </a:r>
              <a:endParaRPr lang="en-GB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E9D52-D4A5-FD52-FD86-C43031E44D39}"/>
              </a:ext>
            </a:extLst>
          </p:cNvPr>
          <p:cNvGrpSpPr/>
          <p:nvPr/>
        </p:nvGrpSpPr>
        <p:grpSpPr>
          <a:xfrm>
            <a:off x="6634623" y="3691156"/>
            <a:ext cx="3769453" cy="2749611"/>
            <a:chOff x="0" y="0"/>
            <a:chExt cx="3096912" cy="217831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85FE59-C86D-7428-5646-20C59837B828}"/>
                </a:ext>
              </a:extLst>
            </p:cNvPr>
            <p:cNvSpPr/>
            <p:nvPr/>
          </p:nvSpPr>
          <p:spPr>
            <a:xfrm>
              <a:off x="0" y="1895879"/>
              <a:ext cx="3096912" cy="28244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HOST OPERATING SYSTEM</a:t>
              </a:r>
            </a:p>
          </p:txBody>
        </p:sp>
        <p:sp>
          <p:nvSpPr>
            <p:cNvPr id="21" name="Text Box 1">
              <a:extLst>
                <a:ext uri="{FF2B5EF4-FFF2-40B4-BE49-F238E27FC236}">
                  <a16:creationId xmlns:a16="http://schemas.microsoft.com/office/drawing/2014/main" id="{6A79BF04-9762-06A9-B345-93FC84CB1D07}"/>
                </a:ext>
              </a:extLst>
            </p:cNvPr>
            <p:cNvSpPr txBox="1"/>
            <p:nvPr/>
          </p:nvSpPr>
          <p:spPr>
            <a:xfrm>
              <a:off x="511923" y="0"/>
              <a:ext cx="2058035" cy="324485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kern="10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CONTAINERS</a:t>
              </a:r>
              <a:endParaRPr lang="en-GB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28E1FB2-7E5E-A2A4-D2CC-18380E8817CF}"/>
                </a:ext>
              </a:extLst>
            </p:cNvPr>
            <p:cNvGrpSpPr/>
            <p:nvPr/>
          </p:nvGrpSpPr>
          <p:grpSpPr>
            <a:xfrm>
              <a:off x="10591" y="377213"/>
              <a:ext cx="1489872" cy="1448057"/>
              <a:chOff x="0" y="-109996"/>
              <a:chExt cx="1489872" cy="1448057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BB9BC3-48F4-DC3D-DC30-FB21D9D66259}"/>
                  </a:ext>
                </a:extLst>
              </p:cNvPr>
              <p:cNvSpPr/>
              <p:nvPr/>
            </p:nvSpPr>
            <p:spPr>
              <a:xfrm>
                <a:off x="41194" y="-15945"/>
                <a:ext cx="568410" cy="6000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53F4FA6-335B-F1FE-DC65-FA6AB5A6030A}"/>
                  </a:ext>
                </a:extLst>
              </p:cNvPr>
              <p:cNvSpPr/>
              <p:nvPr/>
            </p:nvSpPr>
            <p:spPr>
              <a:xfrm>
                <a:off x="31774" y="654170"/>
                <a:ext cx="1398079" cy="600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SUPPORTING APPS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RUNTIME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3B154CC-4CCD-025C-2302-3C31F99E5934}"/>
                  </a:ext>
                </a:extLst>
              </p:cNvPr>
              <p:cNvSpPr/>
              <p:nvPr/>
            </p:nvSpPr>
            <p:spPr>
              <a:xfrm>
                <a:off x="867332" y="-15945"/>
                <a:ext cx="568407" cy="599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2428519-6D54-0B47-A8CA-E4D930011E61}"/>
                  </a:ext>
                </a:extLst>
              </p:cNvPr>
              <p:cNvSpPr/>
              <p:nvPr/>
            </p:nvSpPr>
            <p:spPr>
              <a:xfrm>
                <a:off x="0" y="-109996"/>
                <a:ext cx="1489872" cy="1448057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2AAE869-A03F-DFFD-C110-46847D198457}"/>
                </a:ext>
              </a:extLst>
            </p:cNvPr>
            <p:cNvGrpSpPr/>
            <p:nvPr/>
          </p:nvGrpSpPr>
          <p:grpSpPr>
            <a:xfrm>
              <a:off x="1606378" y="395093"/>
              <a:ext cx="1489872" cy="1433706"/>
              <a:chOff x="0" y="-95646"/>
              <a:chExt cx="1489872" cy="143370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EBA27A3-A952-3FEB-48EB-148FBBECB5D9}"/>
                  </a:ext>
                </a:extLst>
              </p:cNvPr>
              <p:cNvSpPr/>
              <p:nvPr/>
            </p:nvSpPr>
            <p:spPr>
              <a:xfrm>
                <a:off x="47812" y="-18985"/>
                <a:ext cx="430721" cy="6000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7DAA6FA-B051-89FB-8B7F-B9B538BA9747}"/>
                  </a:ext>
                </a:extLst>
              </p:cNvPr>
              <p:cNvSpPr/>
              <p:nvPr/>
            </p:nvSpPr>
            <p:spPr>
              <a:xfrm>
                <a:off x="31775" y="658240"/>
                <a:ext cx="1397635" cy="600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SUPPORTING APPS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RUNTIME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98184F6-1410-A3E1-B75C-43719B447B2E}"/>
                  </a:ext>
                </a:extLst>
              </p:cNvPr>
              <p:cNvSpPr/>
              <p:nvPr/>
            </p:nvSpPr>
            <p:spPr>
              <a:xfrm>
                <a:off x="1008108" y="-18985"/>
                <a:ext cx="430721" cy="599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C67C107-BD07-CA17-5AA8-257927989EDA}"/>
                  </a:ext>
                </a:extLst>
              </p:cNvPr>
              <p:cNvSpPr/>
              <p:nvPr/>
            </p:nvSpPr>
            <p:spPr>
              <a:xfrm>
                <a:off x="0" y="-95646"/>
                <a:ext cx="1489872" cy="1433706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2587317-93EA-CD5D-9550-1C16EE17A00D}"/>
                  </a:ext>
                </a:extLst>
              </p:cNvPr>
              <p:cNvSpPr/>
              <p:nvPr/>
            </p:nvSpPr>
            <p:spPr>
              <a:xfrm>
                <a:off x="527960" y="-18985"/>
                <a:ext cx="430721" cy="599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" name="Text Box 1">
              <a:extLst>
                <a:ext uri="{FF2B5EF4-FFF2-40B4-BE49-F238E27FC236}">
                  <a16:creationId xmlns:a16="http://schemas.microsoft.com/office/drawing/2014/main" id="{DEAFD78F-5067-4206-FB82-4BC3D1186D5A}"/>
                </a:ext>
              </a:extLst>
            </p:cNvPr>
            <p:cNvSpPr txBox="1"/>
            <p:nvPr/>
          </p:nvSpPr>
          <p:spPr>
            <a:xfrm>
              <a:off x="362928" y="213482"/>
              <a:ext cx="776710" cy="19770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800" b="1" kern="1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 1</a:t>
              </a:r>
              <a:endParaRPr lang="en-GB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">
              <a:extLst>
                <a:ext uri="{FF2B5EF4-FFF2-40B4-BE49-F238E27FC236}">
                  <a16:creationId xmlns:a16="http://schemas.microsoft.com/office/drawing/2014/main" id="{997095D2-559A-977F-03F5-3D2F6425FC3A}"/>
                </a:ext>
              </a:extLst>
            </p:cNvPr>
            <p:cNvSpPr txBox="1"/>
            <p:nvPr/>
          </p:nvSpPr>
          <p:spPr>
            <a:xfrm>
              <a:off x="1942244" y="213482"/>
              <a:ext cx="776710" cy="19770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800" b="1" kern="1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 2</a:t>
              </a:r>
              <a:endParaRPr lang="en-GB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FC330D3-7D72-E8A5-F068-464BCC2B1D05}"/>
              </a:ext>
            </a:extLst>
          </p:cNvPr>
          <p:cNvSpPr/>
          <p:nvPr/>
        </p:nvSpPr>
        <p:spPr>
          <a:xfrm>
            <a:off x="5695453" y="5029134"/>
            <a:ext cx="8919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</a:rPr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20708" y="352921"/>
            <a:ext cx="10972800" cy="1066800"/>
          </a:xfrm>
        </p:spPr>
        <p:txBody>
          <a:bodyPr rtlCol="0"/>
          <a:lstStyle/>
          <a:p>
            <a:pPr rtl="0"/>
            <a:r>
              <a:rPr lang="en-GB" dirty="0"/>
              <a:t>Containers vs. Images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sz="half" idx="1"/>
          </p:nvPr>
        </p:nvSpPr>
        <p:spPr>
          <a:xfrm>
            <a:off x="524899" y="1143800"/>
            <a:ext cx="10598269" cy="3263100"/>
          </a:xfrm>
        </p:spPr>
        <p:txBody>
          <a:bodyPr rtlCol="0">
            <a:normAutofit fontScale="92500" lnSpcReduction="10000"/>
          </a:bodyPr>
          <a:lstStyle/>
          <a:p>
            <a:r>
              <a:rPr lang="en-GB" dirty="0"/>
              <a:t>A Container is a thin layer of additional tools/runtimes on top of the kernel plus an application (or applications) with a level of isolation from the host operating system.</a:t>
            </a:r>
          </a:p>
          <a:p>
            <a:r>
              <a:rPr lang="en-GB" dirty="0"/>
              <a:t>They see their own file system, network, RAM, environment variables, global tools etc.</a:t>
            </a:r>
          </a:p>
          <a:p>
            <a:r>
              <a:rPr lang="en-GB" dirty="0"/>
              <a:t>An Image is a blueprint for creating an instance of a Container. (Similar to a Class being a blueprint for creating an Object).</a:t>
            </a:r>
          </a:p>
          <a:p>
            <a:r>
              <a:rPr lang="en-GB" dirty="0"/>
              <a:t>One Image can spin up multiple instances of a Container.</a:t>
            </a:r>
          </a:p>
          <a:p>
            <a:r>
              <a:rPr lang="en-GB" dirty="0"/>
              <a:t>Find Images on a Registry, e.g. </a:t>
            </a:r>
            <a:r>
              <a:rPr lang="en-GB" dirty="0">
                <a:hlinkClick r:id="rId3"/>
              </a:rPr>
              <a:t>https://hub.docker.com/</a:t>
            </a:r>
            <a:endParaRPr lang="en-GB" dirty="0"/>
          </a:p>
          <a:p>
            <a:pPr lvl="1"/>
            <a:r>
              <a:rPr lang="en-GB" dirty="0"/>
              <a:t>Docker Hub is rate limited. (100 images per 6 hours for anonymous, 200 images per 6 hours for authenticated free use).</a:t>
            </a:r>
          </a:p>
          <a:p>
            <a:pPr lvl="1"/>
            <a:r>
              <a:rPr lang="en-GB" dirty="0"/>
              <a:t>Other registries exist, e.g. Microsoft Container Registry.</a:t>
            </a:r>
          </a:p>
          <a:p>
            <a:pPr lvl="1"/>
            <a:r>
              <a:rPr lang="en-GB" dirty="0"/>
              <a:t>Images are stored locally (until deleted) so you only need to download them once.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58DFFB-51DC-7E42-6E59-3B99D615C947}"/>
              </a:ext>
            </a:extLst>
          </p:cNvPr>
          <p:cNvGrpSpPr/>
          <p:nvPr/>
        </p:nvGrpSpPr>
        <p:grpSpPr>
          <a:xfrm>
            <a:off x="8298504" y="3943350"/>
            <a:ext cx="3769453" cy="2749611"/>
            <a:chOff x="0" y="0"/>
            <a:chExt cx="3096912" cy="21783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C6163-0528-32A0-07CC-3776D43CBD67}"/>
                </a:ext>
              </a:extLst>
            </p:cNvPr>
            <p:cNvSpPr/>
            <p:nvPr/>
          </p:nvSpPr>
          <p:spPr>
            <a:xfrm>
              <a:off x="0" y="1895879"/>
              <a:ext cx="3096912" cy="28244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 b="1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HOST OPERATING SYSTEM</a:t>
              </a:r>
            </a:p>
          </p:txBody>
        </p:sp>
        <p:sp>
          <p:nvSpPr>
            <p:cNvPr id="5" name="Text Box 1">
              <a:extLst>
                <a:ext uri="{FF2B5EF4-FFF2-40B4-BE49-F238E27FC236}">
                  <a16:creationId xmlns:a16="http://schemas.microsoft.com/office/drawing/2014/main" id="{25ED25C3-0402-CFE6-3639-C793B8241A56}"/>
                </a:ext>
              </a:extLst>
            </p:cNvPr>
            <p:cNvSpPr txBox="1"/>
            <p:nvPr/>
          </p:nvSpPr>
          <p:spPr>
            <a:xfrm>
              <a:off x="511923" y="0"/>
              <a:ext cx="2058035" cy="324485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kern="10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CONTAINERS</a:t>
              </a:r>
              <a:endParaRPr lang="en-GB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D598084-C750-C69F-F249-CFC4FF77E117}"/>
                </a:ext>
              </a:extLst>
            </p:cNvPr>
            <p:cNvGrpSpPr/>
            <p:nvPr/>
          </p:nvGrpSpPr>
          <p:grpSpPr>
            <a:xfrm>
              <a:off x="10591" y="377213"/>
              <a:ext cx="1489872" cy="1448057"/>
              <a:chOff x="0" y="-109996"/>
              <a:chExt cx="1489872" cy="144805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45F1CC6-0176-60ED-F43A-340877E91728}"/>
                  </a:ext>
                </a:extLst>
              </p:cNvPr>
              <p:cNvSpPr/>
              <p:nvPr/>
            </p:nvSpPr>
            <p:spPr>
              <a:xfrm>
                <a:off x="41194" y="-15945"/>
                <a:ext cx="568410" cy="6000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45587B6-E208-3C7B-D048-69736FF39CAE}"/>
                  </a:ext>
                </a:extLst>
              </p:cNvPr>
              <p:cNvSpPr/>
              <p:nvPr/>
            </p:nvSpPr>
            <p:spPr>
              <a:xfrm>
                <a:off x="31774" y="654170"/>
                <a:ext cx="1398079" cy="600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SUPPORTING APPS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RUNTIME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63057E5-F881-54F9-DEFB-DF55E8C72D3B}"/>
                  </a:ext>
                </a:extLst>
              </p:cNvPr>
              <p:cNvSpPr/>
              <p:nvPr/>
            </p:nvSpPr>
            <p:spPr>
              <a:xfrm>
                <a:off x="867332" y="-15945"/>
                <a:ext cx="568407" cy="5999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87D476-8EB7-1EBB-FD51-1D789025BE6B}"/>
                  </a:ext>
                </a:extLst>
              </p:cNvPr>
              <p:cNvSpPr/>
              <p:nvPr/>
            </p:nvSpPr>
            <p:spPr>
              <a:xfrm>
                <a:off x="0" y="-109996"/>
                <a:ext cx="1489872" cy="1448057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A5DF564-4D95-2FFE-4186-72187774C9AD}"/>
                </a:ext>
              </a:extLst>
            </p:cNvPr>
            <p:cNvGrpSpPr/>
            <p:nvPr/>
          </p:nvGrpSpPr>
          <p:grpSpPr>
            <a:xfrm>
              <a:off x="1606378" y="395093"/>
              <a:ext cx="1489872" cy="1433706"/>
              <a:chOff x="0" y="-95646"/>
              <a:chExt cx="1489872" cy="143370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9E71CC5-661A-8EC1-2CC2-C0001C2493EF}"/>
                  </a:ext>
                </a:extLst>
              </p:cNvPr>
              <p:cNvSpPr/>
              <p:nvPr/>
            </p:nvSpPr>
            <p:spPr>
              <a:xfrm>
                <a:off x="47812" y="-18985"/>
                <a:ext cx="430721" cy="6000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D896F8-F270-B6BE-08D7-B4ED32B2EA50}"/>
                  </a:ext>
                </a:extLst>
              </p:cNvPr>
              <p:cNvSpPr/>
              <p:nvPr/>
            </p:nvSpPr>
            <p:spPr>
              <a:xfrm>
                <a:off x="31775" y="658240"/>
                <a:ext cx="1397635" cy="600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SUPPORTING APPS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1100" b="1" kern="100" dirty="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RUNTIME</a:t>
                </a:r>
                <a:endParaRPr lang="en-GB" sz="11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1515E4C-97E9-2B80-E562-6EF45EC41C9B}"/>
                  </a:ext>
                </a:extLst>
              </p:cNvPr>
              <p:cNvSpPr/>
              <p:nvPr/>
            </p:nvSpPr>
            <p:spPr>
              <a:xfrm>
                <a:off x="1008108" y="-18985"/>
                <a:ext cx="430721" cy="599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63BD186-302F-1322-D958-ED70021C5675}"/>
                  </a:ext>
                </a:extLst>
              </p:cNvPr>
              <p:cNvSpPr/>
              <p:nvPr/>
            </p:nvSpPr>
            <p:spPr>
              <a:xfrm>
                <a:off x="0" y="-95646"/>
                <a:ext cx="1489872" cy="1433706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F4809F-6379-2F44-1586-256639B3656B}"/>
                  </a:ext>
                </a:extLst>
              </p:cNvPr>
              <p:cNvSpPr/>
              <p:nvPr/>
            </p:nvSpPr>
            <p:spPr>
              <a:xfrm>
                <a:off x="527960" y="-18985"/>
                <a:ext cx="430721" cy="599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b="1" kern="100">
                    <a:solidFill>
                      <a:srgbClr val="9900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APP</a:t>
                </a:r>
                <a:endParaRPr lang="en-GB" sz="11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Text Box 1">
              <a:extLst>
                <a:ext uri="{FF2B5EF4-FFF2-40B4-BE49-F238E27FC236}">
                  <a16:creationId xmlns:a16="http://schemas.microsoft.com/office/drawing/2014/main" id="{E5AFEB76-7296-CCFF-4DFB-68105CB12C0F}"/>
                </a:ext>
              </a:extLst>
            </p:cNvPr>
            <p:cNvSpPr txBox="1"/>
            <p:nvPr/>
          </p:nvSpPr>
          <p:spPr>
            <a:xfrm>
              <a:off x="362928" y="213482"/>
              <a:ext cx="776710" cy="19770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800" b="1" kern="1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 1</a:t>
              </a:r>
              <a:endParaRPr lang="en-GB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1">
              <a:extLst>
                <a:ext uri="{FF2B5EF4-FFF2-40B4-BE49-F238E27FC236}">
                  <a16:creationId xmlns:a16="http://schemas.microsoft.com/office/drawing/2014/main" id="{31E8CE49-0DCA-D907-2A55-B9FB9E0A0956}"/>
                </a:ext>
              </a:extLst>
            </p:cNvPr>
            <p:cNvSpPr txBox="1"/>
            <p:nvPr/>
          </p:nvSpPr>
          <p:spPr>
            <a:xfrm>
              <a:off x="1942244" y="213482"/>
              <a:ext cx="776710" cy="19770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GB" sz="800" b="1" kern="10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CONTAINER 2</a:t>
              </a:r>
              <a:endParaRPr lang="en-GB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Demo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GB" dirty="0"/>
              <a:t>Running and Interacting with Containers</a:t>
            </a:r>
          </a:p>
          <a:p>
            <a:pPr rtl="0"/>
            <a:r>
              <a:rPr lang="en-GB" dirty="0">
                <a:hlinkClick r:id="rId3"/>
              </a:rPr>
              <a:t>https://docs.docker.com/get-docker/</a:t>
            </a:r>
            <a:endParaRPr lang="en-GB" dirty="0"/>
          </a:p>
          <a:p>
            <a:pPr lvl="1"/>
            <a:r>
              <a:rPr lang="en-GB" dirty="0"/>
              <a:t>If you’re using Windows, I highly recommend installing Windows Terminal and using WSL2</a:t>
            </a:r>
          </a:p>
          <a:p>
            <a:pPr lvl="1"/>
            <a:r>
              <a:rPr lang="en-GB" dirty="0"/>
              <a:t>You’ll be prompted to choose a Linux distribution. If in doubt just go with the default (normally Ubuntu)</a:t>
            </a:r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GB" dirty="0">
                <a:hlinkClick r:id="rId3"/>
              </a:rPr>
              <a:t>https://www.linkedin.com/in/axon-paul/</a:t>
            </a:r>
            <a:endParaRPr lang="en-GB" dirty="0">
              <a:hlinkClick r:id="rId4"/>
            </a:endParaRPr>
          </a:p>
          <a:p>
            <a:pPr rtl="0"/>
            <a:r>
              <a:rPr lang="en-GB" dirty="0">
                <a:hlinkClick r:id="rId4"/>
              </a:rPr>
              <a:t>https://blog.paulaxon.co.uk/getting-started-with-docker/2021/12/02/docker-running-containers.html</a:t>
            </a:r>
            <a:endParaRPr lang="en-GB" dirty="0"/>
          </a:p>
          <a:p>
            <a:pPr rtl="0"/>
            <a:r>
              <a:rPr lang="en-GB" dirty="0">
                <a:hlinkClick r:id="rId5"/>
              </a:rPr>
              <a:t>https://blog.paulaxon.co.uk/getting-started-with-docker/2021/12/03/evergreen-builds-with-docker.html</a:t>
            </a:r>
            <a:endParaRPr lang="en-GB" dirty="0"/>
          </a:p>
          <a:p>
            <a:pPr rtl="0"/>
            <a:r>
              <a:rPr lang="en-GB" dirty="0">
                <a:hlinkClick r:id="rId6"/>
              </a:rPr>
              <a:t>https://github.com/paxdev/docker-demo</a:t>
            </a:r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951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4345_TF03460604.potx" id="{E7E0BD26-C043-45F4-96D1-04BA13E49D2C}" vid="{5436AFAD-CFB0-446B-836C-C3E13AB52501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{F762BDFF-36B2-45E9-A5EA-CD0053356592}tf03460604_win32</Template>
  <TotalTime>69</TotalTime>
  <Words>647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Georgia</vt:lpstr>
      <vt:lpstr>Wingdings 2</vt:lpstr>
      <vt:lpstr>Training presentation</vt:lpstr>
      <vt:lpstr>Using Docker to Build Apps: A Beginner’s Guide</vt:lpstr>
      <vt:lpstr>Agenda</vt:lpstr>
      <vt:lpstr>What is Docker? What are Containers?</vt:lpstr>
      <vt:lpstr>Containers vs. Images</vt:lpstr>
      <vt:lpstr>Demo 1 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Docker to Build Apps: A Beginner’s Guide</dc:title>
  <dc:creator>Paul Axon</dc:creator>
  <cp:lastModifiedBy>Paul Axon</cp:lastModifiedBy>
  <cp:revision>5</cp:revision>
  <dcterms:created xsi:type="dcterms:W3CDTF">2023-11-15T22:58:46Z</dcterms:created>
  <dcterms:modified xsi:type="dcterms:W3CDTF">2023-11-29T18:36:48Z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