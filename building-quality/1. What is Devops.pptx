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72" r:id="rId2"/>
    <p:sldId id="256" r:id="rId3"/>
    <p:sldId id="257" r:id="rId4"/>
    <p:sldId id="258" r:id="rId5"/>
    <p:sldId id="261" r:id="rId6"/>
    <p:sldId id="262" r:id="rId7"/>
    <p:sldId id="263" r:id="rId8"/>
    <p:sldId id="267" r:id="rId9"/>
    <p:sldId id="259" r:id="rId10"/>
    <p:sldId id="270" r:id="rId11"/>
    <p:sldId id="268" r:id="rId12"/>
    <p:sldId id="271" r:id="rId13"/>
    <p:sldId id="260" r:id="rId14"/>
    <p:sldId id="266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Axon" initials="PA" lastIdx="1" clrIdx="0">
    <p:extLst>
      <p:ext uri="{19B8F6BF-5375-455C-9EA6-DF929625EA0E}">
        <p15:presenceInfo xmlns:p15="http://schemas.microsoft.com/office/powerpoint/2012/main" userId="Paul Ax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4229" autoAdjust="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14T12:48:54.767" idx="1">
    <p:pos x="10" y="10"/>
    <p:text/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E1DA8-8502-4AB6-85F4-6301E9001C1F}" type="datetimeFigureOut">
              <a:rPr lang="en-GB" smtClean="0"/>
              <a:t>24/01/2019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BC720-8BB7-4D01-B7CC-2575A8E70B3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592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Emphasise that software</a:t>
            </a:r>
            <a:r>
              <a:rPr lang="en-GB" baseline="0" dirty="0"/>
              <a:t> isn’t “Working Software” until it is deployed and in use somewhere.</a:t>
            </a:r>
          </a:p>
          <a:p>
            <a:r>
              <a:rPr lang="en-GB" baseline="0" dirty="0"/>
              <a:t>Note that success can only be managed for a specific team. </a:t>
            </a:r>
          </a:p>
          <a:p>
            <a:r>
              <a:rPr lang="en-GB" baseline="0" dirty="0"/>
              <a:t>What works for you might be different to what works for other teams. </a:t>
            </a:r>
          </a:p>
          <a:p>
            <a:r>
              <a:rPr lang="en-GB" baseline="0" dirty="0"/>
              <a:t>If something isn’t working, try something else.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BC720-8BB7-4D01-B7CC-2575A8E70B38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961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BC720-8BB7-4D01-B7CC-2575A8E70B38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566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BC720-8BB7-4D01-B7CC-2575A8E70B3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947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BC720-8BB7-4D01-B7CC-2575A8E70B38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3642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BC720-8BB7-4D01-B7CC-2575A8E70B38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2836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A191-0540-43EE-9046-EE94C2F47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“Building In” Quality with a DevOps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64BA4-F9C7-4367-803B-7E07312AED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Paul Axon and Jon </a:t>
            </a:r>
            <a:r>
              <a:rPr lang="en-GB" dirty="0" err="1"/>
              <a:t>Baggaley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95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8000" dirty="0"/>
              <a:t>What is Devops?</a:t>
            </a:r>
          </a:p>
        </p:txBody>
      </p:sp>
    </p:spTree>
    <p:extLst>
      <p:ext uri="{BB962C8B-B14F-4D97-AF65-F5344CB8AC3E}">
        <p14:creationId xmlns:p14="http://schemas.microsoft.com/office/powerpoint/2010/main" val="297785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Principles of the Agile Manifesto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399" y="2052767"/>
            <a:ext cx="10363826" cy="3424107"/>
          </a:xfrm>
        </p:spPr>
        <p:txBody>
          <a:bodyPr/>
          <a:lstStyle/>
          <a:p>
            <a:r>
              <a:rPr lang="en-GB" dirty="0"/>
              <a:t>Our highest priority is to satisfy the customer through early and continuous delivery of valuable software.</a:t>
            </a:r>
          </a:p>
          <a:p>
            <a:r>
              <a:rPr lang="en-GB" dirty="0"/>
              <a:t>Deliver working software frequently, from a couple of weeks to a couple of months, with a preference to the shorter timescale. </a:t>
            </a:r>
          </a:p>
          <a:p>
            <a:r>
              <a:rPr lang="en-GB" dirty="0"/>
              <a:t>Working software is the primary measure of progress. </a:t>
            </a:r>
          </a:p>
          <a:p>
            <a:r>
              <a:rPr lang="en-GB" dirty="0"/>
              <a:t>At regular intervals, the team reflects on how to become more effective, then tunes and adjusts its behaviour accordingly.</a:t>
            </a:r>
          </a:p>
        </p:txBody>
      </p:sp>
    </p:spTree>
    <p:extLst>
      <p:ext uri="{BB962C8B-B14F-4D97-AF65-F5344CB8AC3E}">
        <p14:creationId xmlns:p14="http://schemas.microsoft.com/office/powerpoint/2010/main" val="429357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225031"/>
          </a:xfrm>
        </p:spPr>
        <p:txBody>
          <a:bodyPr/>
          <a:lstStyle/>
          <a:p>
            <a:r>
              <a:rPr lang="en-GB" dirty="0"/>
              <a:t>Application to </a:t>
            </a:r>
            <a:r>
              <a:rPr lang="en-GB" dirty="0" err="1"/>
              <a:t>devOps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400" y="1961511"/>
            <a:ext cx="10363826" cy="3424107"/>
          </a:xfrm>
        </p:spPr>
        <p:txBody>
          <a:bodyPr/>
          <a:lstStyle/>
          <a:p>
            <a:r>
              <a:rPr lang="en-GB" dirty="0"/>
              <a:t>Many Agile implementations recognise the importance of business analysis and Testing in the development lifecycle but stop once the software is written</a:t>
            </a:r>
          </a:p>
          <a:p>
            <a:r>
              <a:rPr lang="en-GB" dirty="0"/>
              <a:t>This does not take in to account any problems that might occur once the software is deployed, e.g. missing dependencies, Integration problems, problems that only occur under load …</a:t>
            </a:r>
          </a:p>
          <a:p>
            <a:r>
              <a:rPr lang="en-GB" dirty="0"/>
              <a:t>DEVOPS recognises that the software development lifecycle extends to, and beyond deployment</a:t>
            </a:r>
          </a:p>
          <a:p>
            <a:pPr lvl="1"/>
            <a:r>
              <a:rPr lang="en-GB" dirty="0"/>
              <a:t>Monitoring/measuring/ensuring quality of production environment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013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DevOps in an ideal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5" y="2328992"/>
            <a:ext cx="10363826" cy="3424107"/>
          </a:xfrm>
        </p:spPr>
        <p:txBody>
          <a:bodyPr/>
          <a:lstStyle/>
          <a:p>
            <a:r>
              <a:rPr lang="en-GB" dirty="0"/>
              <a:t>Multiple Vertical feature delivery teams Responsible for taking a feature from conception through development and testing to deployment and maintenance</a:t>
            </a:r>
          </a:p>
          <a:p>
            <a:r>
              <a:rPr lang="en-GB" dirty="0"/>
              <a:t>Platform-as-a-service allows new environments to be effortlessly provisioned and software deployed and tested </a:t>
            </a:r>
          </a:p>
          <a:p>
            <a:r>
              <a:rPr lang="en-GB" dirty="0"/>
              <a:t>Microservices architecture allows scaling of components individually</a:t>
            </a:r>
          </a:p>
          <a:p>
            <a:r>
              <a:rPr lang="en-GB" dirty="0"/>
              <a:t>MULTIPLE DEPLOYMENTS PER DAY - Amazon deploy 50 million times per year</a:t>
            </a:r>
          </a:p>
        </p:txBody>
      </p:sp>
    </p:spTree>
    <p:extLst>
      <p:ext uri="{BB962C8B-B14F-4D97-AF65-F5344CB8AC3E}">
        <p14:creationId xmlns:p14="http://schemas.microsoft.com/office/powerpoint/2010/main" val="308008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18554"/>
          </a:xfrm>
        </p:spPr>
        <p:txBody>
          <a:bodyPr/>
          <a:lstStyle/>
          <a:p>
            <a:r>
              <a:rPr lang="en-GB" dirty="0"/>
              <a:t>HOW DOES this APPLY TO 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37072"/>
            <a:ext cx="10363826" cy="4154128"/>
          </a:xfrm>
        </p:spPr>
        <p:txBody>
          <a:bodyPr/>
          <a:lstStyle/>
          <a:p>
            <a:r>
              <a:rPr lang="en-GB" dirty="0"/>
              <a:t>I don’t DEPLOY Multiple times per month, let alone per day!</a:t>
            </a:r>
          </a:p>
          <a:p>
            <a:r>
              <a:rPr lang="en-GB" dirty="0"/>
              <a:t>My organisation has a complex change review process, so multiple deployments are out anyway.</a:t>
            </a:r>
          </a:p>
          <a:p>
            <a:r>
              <a:rPr lang="en-GB" dirty="0"/>
              <a:t>My organisation has a commitment to bare metal</a:t>
            </a:r>
          </a:p>
          <a:p>
            <a:r>
              <a:rPr lang="en-GB" dirty="0"/>
              <a:t>My organisation has geographically distinct teams. Vertical teams wouldn’t work.</a:t>
            </a:r>
          </a:p>
          <a:p>
            <a:r>
              <a:rPr lang="en-GB" dirty="0"/>
              <a:t>I have a complex legacy application that I cannot automate deployment for</a:t>
            </a:r>
          </a:p>
          <a:p>
            <a:r>
              <a:rPr lang="en-GB" dirty="0"/>
              <a:t>I don’t have time to change my existing applications</a:t>
            </a:r>
          </a:p>
          <a:p>
            <a:r>
              <a:rPr lang="en-GB" dirty="0"/>
              <a:t>Find the process (or parts of the process) that works for you</a:t>
            </a:r>
          </a:p>
          <a:p>
            <a:endParaRPr lang="en-GB" sz="1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72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24532"/>
          </a:xfrm>
        </p:spPr>
        <p:txBody>
          <a:bodyPr/>
          <a:lstStyle/>
          <a:p>
            <a:r>
              <a:rPr lang="en-GB" dirty="0"/>
              <a:t>Real world DevOps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543051"/>
            <a:ext cx="10363826" cy="401955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Find problems earlier in the development process – Avoid nasty surprises when you go to production.</a:t>
            </a:r>
          </a:p>
          <a:p>
            <a:r>
              <a:rPr lang="en-GB" dirty="0"/>
              <a:t>Frictionless, Repeatable, reliable deployments – can easily reproduce production bugs locally.</a:t>
            </a:r>
          </a:p>
          <a:p>
            <a:r>
              <a:rPr lang="en-GB" dirty="0"/>
              <a:t>Production Hotfixes can be predictably re-integrated with development – no more overwriting the fix!</a:t>
            </a:r>
          </a:p>
          <a:p>
            <a:r>
              <a:rPr lang="en-GB" dirty="0"/>
              <a:t>Makes small updates small! Can easily get that fix or minor change through </a:t>
            </a:r>
            <a:r>
              <a:rPr lang="en-GB" u="sng" dirty="0"/>
              <a:t>without</a:t>
            </a:r>
            <a:r>
              <a:rPr lang="en-GB" dirty="0"/>
              <a:t> going out of process.</a:t>
            </a:r>
          </a:p>
          <a:p>
            <a:r>
              <a:rPr lang="en-GB" dirty="0"/>
              <a:t>It should be easy to get the code and run locally. New starters can get up and running easily and developers can easily check one another’s code.</a:t>
            </a:r>
          </a:p>
        </p:txBody>
      </p:sp>
    </p:spTree>
    <p:extLst>
      <p:ext uri="{BB962C8B-B14F-4D97-AF65-F5344CB8AC3E}">
        <p14:creationId xmlns:p14="http://schemas.microsoft.com/office/powerpoint/2010/main" val="143939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E473-4C4C-4EF8-9C01-B8816088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DevOps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98917-C5AD-4EA2-866E-8383B39A43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838" y="2214694"/>
            <a:ext cx="10766323" cy="3424107"/>
          </a:xfrm>
        </p:spPr>
        <p:txBody>
          <a:bodyPr>
            <a:normAutofit/>
          </a:bodyPr>
          <a:lstStyle/>
          <a:p>
            <a:r>
              <a:rPr lang="en-GB" sz="2800" dirty="0"/>
              <a:t>As a </a:t>
            </a:r>
            <a:r>
              <a:rPr lang="en-GB" sz="2800" b="1" dirty="0"/>
              <a:t>Developer</a:t>
            </a:r>
            <a:endParaRPr lang="en-GB" sz="2800" dirty="0"/>
          </a:p>
          <a:p>
            <a:r>
              <a:rPr lang="en-GB" sz="2800" dirty="0"/>
              <a:t>I want my </a:t>
            </a:r>
            <a:r>
              <a:rPr lang="en-GB" sz="2800" b="1" dirty="0"/>
              <a:t>Deployments to be automated, reliable and safe</a:t>
            </a:r>
            <a:endParaRPr lang="en-GB" sz="2800" dirty="0"/>
          </a:p>
          <a:p>
            <a:r>
              <a:rPr lang="en-GB" sz="2800" dirty="0"/>
              <a:t>So I can </a:t>
            </a:r>
            <a:endParaRPr lang="en-GB" sz="2800" b="1" dirty="0"/>
          </a:p>
          <a:p>
            <a:pPr lvl="1"/>
            <a:r>
              <a:rPr lang="en-GB" sz="2800" b="1" dirty="0"/>
              <a:t>Go on holiday</a:t>
            </a:r>
          </a:p>
          <a:p>
            <a:pPr lvl="1"/>
            <a:r>
              <a:rPr lang="en-GB" sz="2800" b="1" dirty="0"/>
              <a:t>Not have to work the weekend/overnight</a:t>
            </a:r>
            <a:endParaRPr lang="en-GB" sz="28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381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700225"/>
            <a:ext cx="10364451" cy="1239780"/>
          </a:xfrm>
        </p:spPr>
        <p:txBody>
          <a:bodyPr>
            <a:normAutofit fontScale="90000"/>
          </a:bodyPr>
          <a:lstStyle/>
          <a:p>
            <a:r>
              <a:rPr lang="en-GB" dirty="0"/>
              <a:t>DEVOPS PRACTISES</a:t>
            </a:r>
            <a:br>
              <a:rPr lang="en-GB" dirty="0"/>
            </a:br>
            <a:r>
              <a:rPr lang="en-GB" sz="4000" dirty="0"/>
              <a:t>CONTINUOUS INTEGRATION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940004"/>
            <a:ext cx="10363826" cy="4018343"/>
          </a:xfrm>
        </p:spPr>
        <p:txBody>
          <a:bodyPr>
            <a:normAutofit/>
          </a:bodyPr>
          <a:lstStyle/>
          <a:p>
            <a:pPr lvl="1"/>
            <a:r>
              <a:rPr lang="en-GB" sz="2400" dirty="0"/>
              <a:t>Maintain a single repository</a:t>
            </a:r>
          </a:p>
          <a:p>
            <a:pPr lvl="1"/>
            <a:r>
              <a:rPr lang="en-GB" sz="2400" dirty="0"/>
              <a:t>Make it easy for everyone to get (and run) the latest working code</a:t>
            </a:r>
          </a:p>
          <a:p>
            <a:pPr lvl="1"/>
            <a:r>
              <a:rPr lang="en-GB" sz="2400" dirty="0"/>
              <a:t>Automate the build </a:t>
            </a:r>
          </a:p>
          <a:p>
            <a:pPr lvl="1"/>
            <a:r>
              <a:rPr lang="en-GB" sz="2400" dirty="0"/>
              <a:t>Automate TESTING</a:t>
            </a:r>
          </a:p>
          <a:p>
            <a:pPr lvl="1"/>
            <a:r>
              <a:rPr lang="en-GB" sz="2400" dirty="0"/>
              <a:t>Integrate regularly</a:t>
            </a:r>
          </a:p>
          <a:p>
            <a:pPr lvl="1"/>
            <a:r>
              <a:rPr lang="en-GB" sz="2400" dirty="0"/>
              <a:t>Don’t integrate unless the build and tests are successful</a:t>
            </a:r>
          </a:p>
          <a:p>
            <a:pPr lvl="1"/>
            <a:r>
              <a:rPr lang="en-GB" sz="2400" dirty="0"/>
              <a:t>AUTOMATE DEPLOYMENT TO A test environment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527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FCCD-0E1D-44BB-9412-57D905BA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21569"/>
            <a:ext cx="10364451" cy="1055539"/>
          </a:xfrm>
        </p:spPr>
        <p:txBody>
          <a:bodyPr/>
          <a:lstStyle/>
          <a:p>
            <a:r>
              <a:rPr lang="en-GB" dirty="0"/>
              <a:t>Continuous Integration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D691AC9F-E0CD-45FC-8EEF-28A8108204F9}"/>
              </a:ext>
            </a:extLst>
          </p:cNvPr>
          <p:cNvSpPr/>
          <p:nvPr/>
        </p:nvSpPr>
        <p:spPr>
          <a:xfrm>
            <a:off x="1366715" y="2543712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Master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CE9015E7-0740-4259-AC0A-0790274C4EFA}"/>
              </a:ext>
            </a:extLst>
          </p:cNvPr>
          <p:cNvSpPr/>
          <p:nvPr/>
        </p:nvSpPr>
        <p:spPr>
          <a:xfrm>
            <a:off x="1366715" y="4313228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Feature Branch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9E66D241-EF2C-457F-A5DB-59380B69BA87}"/>
              </a:ext>
            </a:extLst>
          </p:cNvPr>
          <p:cNvSpPr/>
          <p:nvPr/>
        </p:nvSpPr>
        <p:spPr>
          <a:xfrm>
            <a:off x="3956733" y="2527986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Build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9EA806A-35EF-4798-A3A4-FAE786AAEE4A}"/>
              </a:ext>
            </a:extLst>
          </p:cNvPr>
          <p:cNvSpPr/>
          <p:nvPr/>
        </p:nvSpPr>
        <p:spPr>
          <a:xfrm>
            <a:off x="1704339" y="3528451"/>
            <a:ext cx="337624" cy="5926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A7F6D357-B6B3-4876-B053-8124B488EB7D}"/>
              </a:ext>
            </a:extLst>
          </p:cNvPr>
          <p:cNvSpPr/>
          <p:nvPr/>
        </p:nvSpPr>
        <p:spPr>
          <a:xfrm>
            <a:off x="2543711" y="3528451"/>
            <a:ext cx="337624" cy="5926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C2B1F09-93C9-49B9-BDBE-2CE7B7708B0A}"/>
              </a:ext>
            </a:extLst>
          </p:cNvPr>
          <p:cNvSpPr/>
          <p:nvPr/>
        </p:nvSpPr>
        <p:spPr>
          <a:xfrm>
            <a:off x="3302488" y="2832100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98FDD704-BB14-4200-B683-EB88F9859814}"/>
              </a:ext>
            </a:extLst>
          </p:cNvPr>
          <p:cNvSpPr/>
          <p:nvPr/>
        </p:nvSpPr>
        <p:spPr>
          <a:xfrm>
            <a:off x="6546751" y="2543712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Test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14625E8-2DCF-4BD3-9B01-C69F34875AF9}"/>
              </a:ext>
            </a:extLst>
          </p:cNvPr>
          <p:cNvSpPr/>
          <p:nvPr/>
        </p:nvSpPr>
        <p:spPr>
          <a:xfrm>
            <a:off x="9136769" y="2543712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Deploy to Staging</a:t>
            </a: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FE614984-3FD2-441A-91FD-863A1536F1C9}"/>
              </a:ext>
            </a:extLst>
          </p:cNvPr>
          <p:cNvSpPr/>
          <p:nvPr/>
        </p:nvSpPr>
        <p:spPr>
          <a:xfrm flipH="1">
            <a:off x="1917700" y="1708932"/>
            <a:ext cx="8128000" cy="622300"/>
          </a:xfrm>
          <a:prstGeom prst="curvedDownArrow">
            <a:avLst>
              <a:gd name="adj1" fmla="val 37113"/>
              <a:gd name="adj2" fmla="val 106335"/>
              <a:gd name="adj3" fmla="val 204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FDA4EB7-7200-4310-B74B-0F9042A7142A}"/>
              </a:ext>
            </a:extLst>
          </p:cNvPr>
          <p:cNvSpPr/>
          <p:nvPr/>
        </p:nvSpPr>
        <p:spPr>
          <a:xfrm>
            <a:off x="5892507" y="2832100"/>
            <a:ext cx="497938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D67A330-E309-44BD-BE95-18A7540F5B8C}"/>
              </a:ext>
            </a:extLst>
          </p:cNvPr>
          <p:cNvSpPr/>
          <p:nvPr/>
        </p:nvSpPr>
        <p:spPr>
          <a:xfrm>
            <a:off x="8482524" y="2878602"/>
            <a:ext cx="445576" cy="1856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F23CF8-DF39-4D78-8C62-AD5E4E81631E}"/>
              </a:ext>
            </a:extLst>
          </p:cNvPr>
          <p:cNvSpPr txBox="1"/>
          <p:nvPr/>
        </p:nvSpPr>
        <p:spPr>
          <a:xfrm>
            <a:off x="2881335" y="3675967"/>
            <a:ext cx="129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Pull Request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30194-CBD7-4028-B562-6F42DE5F160F}"/>
              </a:ext>
            </a:extLst>
          </p:cNvPr>
          <p:cNvSpPr txBox="1"/>
          <p:nvPr/>
        </p:nvSpPr>
        <p:spPr>
          <a:xfrm>
            <a:off x="681900" y="3642653"/>
            <a:ext cx="102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16D6F-32CE-4CD8-ACEC-16C3A144E9EC}"/>
              </a:ext>
            </a:extLst>
          </p:cNvPr>
          <p:cNvSpPr txBox="1"/>
          <p:nvPr/>
        </p:nvSpPr>
        <p:spPr>
          <a:xfrm>
            <a:off x="5842487" y="1835416"/>
            <a:ext cx="53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CB141-22DA-4BEE-8DBA-4A30775F2117}"/>
              </a:ext>
            </a:extLst>
          </p:cNvPr>
          <p:cNvSpPr txBox="1"/>
          <p:nvPr/>
        </p:nvSpPr>
        <p:spPr>
          <a:xfrm>
            <a:off x="9396143" y="3583634"/>
            <a:ext cx="1299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Automated Acceptance Tests</a:t>
            </a:r>
          </a:p>
        </p:txBody>
      </p:sp>
    </p:spTree>
    <p:extLst>
      <p:ext uri="{BB962C8B-B14F-4D97-AF65-F5344CB8AC3E}">
        <p14:creationId xmlns:p14="http://schemas.microsoft.com/office/powerpoint/2010/main" val="128400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08803"/>
            <a:ext cx="10364451" cy="1596177"/>
          </a:xfrm>
        </p:spPr>
        <p:txBody>
          <a:bodyPr/>
          <a:lstStyle/>
          <a:p>
            <a:r>
              <a:rPr lang="en-GB" sz="3200" dirty="0"/>
              <a:t>DevOps Practises</a:t>
            </a:r>
            <a:br>
              <a:rPr lang="en-GB" dirty="0"/>
            </a:br>
            <a:r>
              <a:rPr lang="en-GB" dirty="0"/>
              <a:t>Continuous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399" y="1904979"/>
            <a:ext cx="10363826" cy="4230349"/>
          </a:xfrm>
        </p:spPr>
        <p:txBody>
          <a:bodyPr/>
          <a:lstStyle/>
          <a:p>
            <a:r>
              <a:rPr lang="en-GB" dirty="0"/>
              <a:t>Build once – deploy Many</a:t>
            </a:r>
          </a:p>
          <a:p>
            <a:pPr lvl="1"/>
            <a:r>
              <a:rPr lang="en-GB" dirty="0"/>
              <a:t>Build one set of “Binaries”</a:t>
            </a:r>
          </a:p>
          <a:p>
            <a:pPr lvl="1"/>
            <a:r>
              <a:rPr lang="en-GB" dirty="0"/>
              <a:t>Predictably configure the environment by using, e.g. configuration transforms</a:t>
            </a:r>
          </a:p>
          <a:p>
            <a:pPr lvl="1"/>
            <a:r>
              <a:rPr lang="en-GB" dirty="0"/>
              <a:t>Bonus Points: Automate the provision and deployment of the whole environment!</a:t>
            </a:r>
          </a:p>
          <a:p>
            <a:r>
              <a:rPr lang="en-GB" dirty="0"/>
              <a:t>Apply gates between environments and promote successful “Releases”</a:t>
            </a:r>
          </a:p>
          <a:p>
            <a:r>
              <a:rPr lang="en-GB" dirty="0"/>
              <a:t>Martin Fowler: “</a:t>
            </a:r>
            <a:r>
              <a:rPr lang="en-GB" b="1" dirty="0"/>
              <a:t>the current development version of the software can be deployed into production at a moment's notice</a:t>
            </a:r>
            <a:r>
              <a:rPr lang="en-GB" dirty="0"/>
              <a:t> - and nobody would bat an eyelid, let alone panic”</a:t>
            </a:r>
          </a:p>
          <a:p>
            <a:r>
              <a:rPr lang="en-GB" dirty="0"/>
              <a:t>Continuous deployment takes this one step further and mandates that </a:t>
            </a:r>
            <a:r>
              <a:rPr lang="en-GB" i="1" dirty="0"/>
              <a:t>all</a:t>
            </a:r>
            <a:r>
              <a:rPr lang="en-GB" dirty="0"/>
              <a:t> successful releases will go straight to production.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4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9169-149C-4D5D-8209-9A28AD0E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96150"/>
          </a:xfrm>
        </p:spPr>
        <p:txBody>
          <a:bodyPr/>
          <a:lstStyle/>
          <a:p>
            <a:r>
              <a:rPr lang="en-GB" dirty="0"/>
              <a:t>Continuous Delivery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EAB65A3D-9A38-465F-A936-7BE890DF0B91}"/>
              </a:ext>
            </a:extLst>
          </p:cNvPr>
          <p:cNvSpPr/>
          <p:nvPr/>
        </p:nvSpPr>
        <p:spPr>
          <a:xfrm>
            <a:off x="1129675" y="1683640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Built</a:t>
            </a:r>
          </a:p>
          <a:p>
            <a:pPr algn="ctr"/>
            <a:r>
              <a:rPr lang="en-GB" dirty="0"/>
              <a:t>Binaries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A184F6C-048E-4D1E-9EE6-3ACFB88B822C}"/>
              </a:ext>
            </a:extLst>
          </p:cNvPr>
          <p:cNvSpPr/>
          <p:nvPr/>
        </p:nvSpPr>
        <p:spPr>
          <a:xfrm>
            <a:off x="3111989" y="1982579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0274EBFF-5F7F-49EE-A79C-D8A3E2360ACC}"/>
              </a:ext>
            </a:extLst>
          </p:cNvPr>
          <p:cNvSpPr/>
          <p:nvPr/>
        </p:nvSpPr>
        <p:spPr>
          <a:xfrm>
            <a:off x="3866312" y="1683640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Environmental Configuration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B261499-24CD-4888-B528-03F5E67B72EC}"/>
              </a:ext>
            </a:extLst>
          </p:cNvPr>
          <p:cNvSpPr/>
          <p:nvPr/>
        </p:nvSpPr>
        <p:spPr>
          <a:xfrm>
            <a:off x="5848626" y="1985128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6E6D3008-BA3D-4F86-9279-B2A11018283E}"/>
              </a:ext>
            </a:extLst>
          </p:cNvPr>
          <p:cNvSpPr/>
          <p:nvPr/>
        </p:nvSpPr>
        <p:spPr>
          <a:xfrm>
            <a:off x="6602949" y="1683640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Deploy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B7AA172-7D00-4089-8EB8-4BA9DDF269ED}"/>
              </a:ext>
            </a:extLst>
          </p:cNvPr>
          <p:cNvSpPr/>
          <p:nvPr/>
        </p:nvSpPr>
        <p:spPr>
          <a:xfrm>
            <a:off x="8585263" y="1985128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45CC81BF-34AB-43BA-A124-B5D81E5BBE40}"/>
              </a:ext>
            </a:extLst>
          </p:cNvPr>
          <p:cNvSpPr/>
          <p:nvPr/>
        </p:nvSpPr>
        <p:spPr>
          <a:xfrm>
            <a:off x="9339586" y="1683640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Test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2CE8257D-C0AC-4B92-9D5C-28EC7194BD8E}"/>
              </a:ext>
            </a:extLst>
          </p:cNvPr>
          <p:cNvSpPr/>
          <p:nvPr/>
        </p:nvSpPr>
        <p:spPr>
          <a:xfrm>
            <a:off x="1129674" y="3128303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Successful Build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03967F5-D592-4E5B-9C9A-E930292CA8A2}"/>
              </a:ext>
            </a:extLst>
          </p:cNvPr>
          <p:cNvSpPr/>
          <p:nvPr/>
        </p:nvSpPr>
        <p:spPr>
          <a:xfrm>
            <a:off x="1826025" y="4161452"/>
            <a:ext cx="337624" cy="5926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AAACAF59-C10D-46F7-95FD-90F60D8DC060}"/>
              </a:ext>
            </a:extLst>
          </p:cNvPr>
          <p:cNvSpPr/>
          <p:nvPr/>
        </p:nvSpPr>
        <p:spPr>
          <a:xfrm>
            <a:off x="1129674" y="4957263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Develop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6A8F6B3-CCBB-4657-B0B9-1A333EBA716F}"/>
              </a:ext>
            </a:extLst>
          </p:cNvPr>
          <p:cNvSpPr/>
          <p:nvPr/>
        </p:nvSpPr>
        <p:spPr>
          <a:xfrm>
            <a:off x="3111987" y="5256202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8CE7A115-3C70-415E-B8E4-90BD51681503}"/>
              </a:ext>
            </a:extLst>
          </p:cNvPr>
          <p:cNvSpPr/>
          <p:nvPr/>
        </p:nvSpPr>
        <p:spPr>
          <a:xfrm>
            <a:off x="3866311" y="4993621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Test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A0CDCAD-2F9F-4040-BED2-AB68804B92A2}"/>
              </a:ext>
            </a:extLst>
          </p:cNvPr>
          <p:cNvSpPr/>
          <p:nvPr/>
        </p:nvSpPr>
        <p:spPr>
          <a:xfrm>
            <a:off x="5841041" y="5256202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126FE985-BF5F-48A0-98B8-300982177F8F}"/>
              </a:ext>
            </a:extLst>
          </p:cNvPr>
          <p:cNvSpPr/>
          <p:nvPr/>
        </p:nvSpPr>
        <p:spPr>
          <a:xfrm>
            <a:off x="6595365" y="4993621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UAT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7B1A655-B41D-405E-B4AC-1C0C3F3D0DC2}"/>
              </a:ext>
            </a:extLst>
          </p:cNvPr>
          <p:cNvSpPr/>
          <p:nvPr/>
        </p:nvSpPr>
        <p:spPr>
          <a:xfrm>
            <a:off x="8585262" y="5230946"/>
            <a:ext cx="502335" cy="2321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7911B6CB-60D7-48F8-9674-67C7CB968242}"/>
              </a:ext>
            </a:extLst>
          </p:cNvPr>
          <p:cNvSpPr/>
          <p:nvPr/>
        </p:nvSpPr>
        <p:spPr>
          <a:xfrm>
            <a:off x="9339586" y="4968365"/>
            <a:ext cx="1730326" cy="82999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Production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3F697-78E4-451C-8399-EB57D504D6A9}"/>
              </a:ext>
            </a:extLst>
          </p:cNvPr>
          <p:cNvSpPr txBox="1"/>
          <p:nvPr/>
        </p:nvSpPr>
        <p:spPr>
          <a:xfrm>
            <a:off x="689149" y="4343704"/>
            <a:ext cx="129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Automatic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1503D-26FC-4C7E-8054-5722A7ABE085}"/>
              </a:ext>
            </a:extLst>
          </p:cNvPr>
          <p:cNvSpPr txBox="1"/>
          <p:nvPr/>
        </p:nvSpPr>
        <p:spPr>
          <a:xfrm>
            <a:off x="3111987" y="4569442"/>
            <a:ext cx="207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Tester “pulls” latest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0DAFB-4A16-4472-A0A6-0233B073B2F0}"/>
              </a:ext>
            </a:extLst>
          </p:cNvPr>
          <p:cNvSpPr txBox="1"/>
          <p:nvPr/>
        </p:nvSpPr>
        <p:spPr>
          <a:xfrm>
            <a:off x="5848896" y="5787257"/>
            <a:ext cx="2072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Tester approves changes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245BA3-B6B8-40A8-83F4-6F5DDE520C78}"/>
              </a:ext>
            </a:extLst>
          </p:cNvPr>
          <p:cNvSpPr txBox="1"/>
          <p:nvPr/>
        </p:nvSpPr>
        <p:spPr>
          <a:xfrm>
            <a:off x="7921342" y="4528370"/>
            <a:ext cx="207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Business Sign-Off</a:t>
            </a:r>
          </a:p>
        </p:txBody>
      </p:sp>
    </p:spTree>
    <p:extLst>
      <p:ext uri="{BB962C8B-B14F-4D97-AF65-F5344CB8AC3E}">
        <p14:creationId xmlns:p14="http://schemas.microsoft.com/office/powerpoint/2010/main" val="86940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/>
      <p:bldP spid="24" grpId="0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Devops Practices</a:t>
            </a:r>
            <a:br>
              <a:rPr lang="en-GB" dirty="0"/>
            </a:br>
            <a:r>
              <a:rPr lang="en-GB" dirty="0"/>
              <a:t>8 Principles of Continuous delivery</a:t>
            </a:r>
            <a:br>
              <a:rPr lang="en-GB" dirty="0"/>
            </a:br>
            <a:r>
              <a:rPr lang="en-GB" sz="2400" i="1" dirty="0"/>
              <a:t>Jez Humble, Dave Farley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558817"/>
            <a:ext cx="5106026" cy="2455636"/>
          </a:xfrm>
        </p:spPr>
        <p:txBody>
          <a:bodyPr>
            <a:normAutofit/>
          </a:bodyPr>
          <a:lstStyle/>
          <a:p>
            <a:r>
              <a:rPr lang="en-GB" sz="2400" dirty="0"/>
              <a:t>Repeatable, Reliable Process</a:t>
            </a:r>
          </a:p>
          <a:p>
            <a:r>
              <a:rPr lang="en-GB" sz="2400" dirty="0"/>
              <a:t>Automate Everything</a:t>
            </a:r>
          </a:p>
          <a:p>
            <a:r>
              <a:rPr lang="en-GB" sz="2400" dirty="0"/>
              <a:t>Version Control Everything</a:t>
            </a:r>
          </a:p>
          <a:p>
            <a:r>
              <a:rPr lang="en-GB" sz="2400" dirty="0"/>
              <a:t>Bring the Pain Forward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558816"/>
            <a:ext cx="5105400" cy="3424107"/>
          </a:xfrm>
        </p:spPr>
        <p:txBody>
          <a:bodyPr>
            <a:normAutofit/>
          </a:bodyPr>
          <a:lstStyle/>
          <a:p>
            <a:r>
              <a:rPr lang="en-GB" sz="2400" dirty="0"/>
              <a:t>Build-in Quality </a:t>
            </a:r>
          </a:p>
          <a:p>
            <a:r>
              <a:rPr lang="en-GB" sz="2400" dirty="0"/>
              <a:t>"Done" Means Released</a:t>
            </a:r>
          </a:p>
          <a:p>
            <a:r>
              <a:rPr lang="en-GB" sz="2400" dirty="0"/>
              <a:t>Everyone is Responsible</a:t>
            </a:r>
          </a:p>
          <a:p>
            <a:r>
              <a:rPr lang="en-GB" sz="2400" dirty="0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313732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23550"/>
            <a:ext cx="10364451" cy="1124558"/>
          </a:xfrm>
        </p:spPr>
        <p:txBody>
          <a:bodyPr/>
          <a:lstStyle/>
          <a:p>
            <a:r>
              <a:rPr lang="en-GB" dirty="0"/>
              <a:t>DevOps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89934" y="1268362"/>
            <a:ext cx="11149781" cy="5102942"/>
          </a:xfrm>
        </p:spPr>
        <p:txBody>
          <a:bodyPr>
            <a:normAutofit/>
          </a:bodyPr>
          <a:lstStyle/>
          <a:p>
            <a:r>
              <a:rPr lang="en-GB" dirty="0"/>
              <a:t>Not being able to move code into production is a priority one bug.</a:t>
            </a:r>
          </a:p>
          <a:p>
            <a:r>
              <a:rPr lang="en-GB" dirty="0"/>
              <a:t>Get used to </a:t>
            </a:r>
            <a:r>
              <a:rPr lang="en-GB" i="1" dirty="0"/>
              <a:t>not</a:t>
            </a:r>
            <a:r>
              <a:rPr lang="en-GB" dirty="0"/>
              <a:t> having direct access to the server. </a:t>
            </a:r>
            <a:endParaRPr lang="en-GB" u="sng" dirty="0"/>
          </a:p>
          <a:p>
            <a:pPr lvl="1"/>
            <a:r>
              <a:rPr lang="en-GB" sz="2000" dirty="0"/>
              <a:t>From the start of a project </a:t>
            </a:r>
          </a:p>
          <a:p>
            <a:pPr lvl="2"/>
            <a:r>
              <a:rPr lang="en-GB" sz="2000" dirty="0"/>
              <a:t>make sure you are able to log and access enough data to be able to fix any issues. You can’t easily attach a debugger in production.</a:t>
            </a:r>
          </a:p>
          <a:p>
            <a:pPr lvl="2"/>
            <a:r>
              <a:rPr lang="en-GB" sz="2000" dirty="0"/>
              <a:t>make sure you are able to easily (AND REPEATABLY) update configuration or other environmental settings.</a:t>
            </a:r>
          </a:p>
          <a:p>
            <a:r>
              <a:rPr lang="en-GB" dirty="0"/>
              <a:t>Build tests in from the start.</a:t>
            </a:r>
          </a:p>
          <a:p>
            <a:r>
              <a:rPr lang="en-GB" dirty="0"/>
              <a:t>Master should </a:t>
            </a:r>
            <a:r>
              <a:rPr lang="en-GB" i="1" dirty="0"/>
              <a:t>always</a:t>
            </a:r>
            <a:r>
              <a:rPr lang="en-GB" dirty="0"/>
              <a:t> be deployable.</a:t>
            </a:r>
          </a:p>
          <a:p>
            <a:r>
              <a:rPr lang="en-GB" dirty="0"/>
              <a:t>Deploy as often as possible – feature Toggles allow you to make changes ahead of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981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we achieve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Source control</a:t>
            </a:r>
          </a:p>
          <a:p>
            <a:r>
              <a:rPr lang="en-GB" dirty="0"/>
              <a:t>Continuous integration (build)</a:t>
            </a:r>
          </a:p>
          <a:p>
            <a:r>
              <a:rPr lang="en-GB" dirty="0"/>
              <a:t>Continuous Delivery (release)</a:t>
            </a:r>
          </a:p>
          <a:p>
            <a:r>
              <a:rPr lang="en-GB" dirty="0"/>
              <a:t>Logging/Monitoring</a:t>
            </a:r>
          </a:p>
          <a:p>
            <a:r>
              <a:rPr lang="en-GB" dirty="0"/>
              <a:t>Practice!</a:t>
            </a:r>
          </a:p>
          <a:p>
            <a:r>
              <a:rPr lang="en-GB" dirty="0"/>
              <a:t>Adapt!</a:t>
            </a:r>
          </a:p>
        </p:txBody>
      </p:sp>
    </p:spTree>
    <p:extLst>
      <p:ext uri="{BB962C8B-B14F-4D97-AF65-F5344CB8AC3E}">
        <p14:creationId xmlns:p14="http://schemas.microsoft.com/office/powerpoint/2010/main" val="348622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241</TotalTime>
  <Words>859</Words>
  <Application>Microsoft Office PowerPoint</Application>
  <PresentationFormat>Widescreen</PresentationFormat>
  <Paragraphs>115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Tw Cen MT</vt:lpstr>
      <vt:lpstr>Droplet</vt:lpstr>
      <vt:lpstr>“Building In” Quality with a DevOps Pipeline</vt:lpstr>
      <vt:lpstr>What is Devops?</vt:lpstr>
      <vt:lpstr>Principles of the Agile Manifesto</vt:lpstr>
      <vt:lpstr>Application to devOps</vt:lpstr>
      <vt:lpstr>DevOps in an ideal world</vt:lpstr>
      <vt:lpstr>HOW DOES this APPLY TO ME?</vt:lpstr>
      <vt:lpstr>Real world DevOps benefits</vt:lpstr>
      <vt:lpstr>My DevOps Benefits</vt:lpstr>
      <vt:lpstr>DEVOPS PRACTISES CONTINUOUS INTEGRATION </vt:lpstr>
      <vt:lpstr>Continuous Integration</vt:lpstr>
      <vt:lpstr>DevOps Practises Continuous Delivery</vt:lpstr>
      <vt:lpstr>Continuous Delivery</vt:lpstr>
      <vt:lpstr>Devops Practices 8 Principles of Continuous delivery Jez Humble, Dave Farley</vt:lpstr>
      <vt:lpstr>DevOps practices</vt:lpstr>
      <vt:lpstr>How do we achieve this?</vt:lpstr>
    </vt:vector>
  </TitlesOfParts>
  <Company>Study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Devops?</dc:title>
  <dc:creator>Paul Axon</dc:creator>
  <cp:lastModifiedBy>paul</cp:lastModifiedBy>
  <cp:revision>31</cp:revision>
  <dcterms:created xsi:type="dcterms:W3CDTF">2019-01-14T12:35:13Z</dcterms:created>
  <dcterms:modified xsi:type="dcterms:W3CDTF">2019-01-24T12:57:24Z</dcterms:modified>
</cp:coreProperties>
</file>