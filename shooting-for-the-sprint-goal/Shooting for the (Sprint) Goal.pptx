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4"/>
  </p:notesMasterIdLst>
  <p:handoutMasterIdLst>
    <p:handoutMasterId r:id="rId15"/>
  </p:handoutMasterIdLst>
  <p:sldIdLst>
    <p:sldId id="257" r:id="rId2"/>
    <p:sldId id="259" r:id="rId3"/>
    <p:sldId id="260" r:id="rId4"/>
    <p:sldId id="261" r:id="rId5"/>
    <p:sldId id="262" r:id="rId6"/>
    <p:sldId id="263" r:id="rId7"/>
    <p:sldId id="264" r:id="rId8"/>
    <p:sldId id="265" r:id="rId9"/>
    <p:sldId id="266" r:id="rId10"/>
    <p:sldId id="268" r:id="rId11"/>
    <p:sldId id="267" r:id="rId12"/>
    <p:sldId id="269" r:id="rId13"/>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3620" autoAdjust="0"/>
  </p:normalViewPr>
  <p:slideViewPr>
    <p:cSldViewPr snapToGrid="0">
      <p:cViewPr varScale="1">
        <p:scale>
          <a:sx n="92" d="100"/>
          <a:sy n="92" d="100"/>
        </p:scale>
        <p:origin x="84" y="204"/>
      </p:cViewPr>
      <p:guideLst/>
    </p:cSldViewPr>
  </p:slideViewPr>
  <p:notesTextViewPr>
    <p:cViewPr>
      <p:scale>
        <a:sx n="1" d="1"/>
        <a:sy n="1" d="1"/>
      </p:scale>
      <p:origin x="0" y="0"/>
    </p:cViewPr>
  </p:notesTextViewPr>
  <p:notesViewPr>
    <p:cSldViewPr snapToGrid="0">
      <p:cViewPr varScale="1">
        <p:scale>
          <a:sx n="120" d="100"/>
          <a:sy n="120" d="100"/>
        </p:scale>
        <p:origin x="504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F71E10E-35B8-47D3-9928-6154DA9F5F92}" type="datetime1">
              <a:rPr lang="en-US" smtClean="0"/>
              <a:t>4/25/2023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t>‹#›</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DF4EEB86-F496-4E4F-8177-5ED3E84B3BB3}" type="datetime1">
              <a:rPr lang="en-US" smtClean="0"/>
              <a:t>4/25/2023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a:t>Click to edit Master text styles</a:t>
            </a:r>
            <a:endParaRPr lang="en-US"/>
          </a:p>
          <a:p>
            <a:pPr lvl="1" rtl="0"/>
            <a:r>
              <a:rPr lang="en-gb"/>
              <a:t>Second level</a:t>
            </a:r>
          </a:p>
          <a:p>
            <a:pPr lvl="2" rtl="0"/>
            <a:r>
              <a:rPr lang="en-gb"/>
              <a:t>Third level</a:t>
            </a:r>
          </a:p>
          <a:p>
            <a:pPr lvl="3" rtl="0"/>
            <a:r>
              <a:rPr lang="en-gb"/>
              <a:t>Fourth level</a:t>
            </a:r>
          </a:p>
          <a:p>
            <a:pPr lvl="4" rtl="0"/>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t>‹#›</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How many people here currently work in Scrum or some form of Scrum?</a:t>
            </a:r>
          </a:p>
          <a:p>
            <a:pPr marL="171450" indent="-171450">
              <a:buFont typeface="Arial" panose="020B0604020202020204" pitchFamily="34" charset="0"/>
              <a:buChar char="•"/>
            </a:pPr>
            <a:r>
              <a:rPr lang="en-GB" dirty="0"/>
              <a:t>How many people have had formal or informal Scrum training? Good because no-one will notice if I get anything wrong!</a:t>
            </a:r>
          </a:p>
          <a:p>
            <a:pPr marL="171450" indent="-171450">
              <a:buFont typeface="Arial" panose="020B0604020202020204" pitchFamily="34" charset="0"/>
              <a:buChar char="•"/>
            </a:pPr>
            <a:r>
              <a:rPr lang="en-GB" dirty="0"/>
              <a:t>How many people are familiar with the concept of a Sprint Goal?</a:t>
            </a:r>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1</a:t>
            </a:fld>
            <a:endParaRPr lang="en-US"/>
          </a:p>
        </p:txBody>
      </p:sp>
    </p:spTree>
    <p:extLst>
      <p:ext uri="{BB962C8B-B14F-4D97-AF65-F5344CB8AC3E}">
        <p14:creationId xmlns:p14="http://schemas.microsoft.com/office/powerpoint/2010/main" val="1356595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Doing the qualification was interesting because Scrum is constantly evolving as they see more companies adopt the process and can see what works and what doesn’t</a:t>
            </a:r>
          </a:p>
          <a:p>
            <a:pPr marL="171450" indent="-171450">
              <a:buFont typeface="Arial" panose="020B0604020202020204" pitchFamily="34" charset="0"/>
              <a:buChar char="•"/>
            </a:pPr>
            <a:r>
              <a:rPr lang="en-GB" dirty="0"/>
              <a:t>Don’t claim to run perfect Scrums – learnt a lot researching this talk, reflected and will take some of these practices into future scrums myself</a:t>
            </a:r>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2</a:t>
            </a:fld>
            <a:endParaRPr lang="en-US"/>
          </a:p>
        </p:txBody>
      </p:sp>
    </p:spTree>
    <p:extLst>
      <p:ext uri="{BB962C8B-B14F-4D97-AF65-F5344CB8AC3E}">
        <p14:creationId xmlns:p14="http://schemas.microsoft.com/office/powerpoint/2010/main" val="3918173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Maybe you aren’t doing Scrum</a:t>
            </a:r>
          </a:p>
          <a:p>
            <a:pPr marL="171450" indent="-171450">
              <a:buFont typeface="Arial" panose="020B0604020202020204" pitchFamily="34" charset="0"/>
              <a:buChar char="•"/>
            </a:pPr>
            <a:r>
              <a:rPr lang="en-GB" dirty="0"/>
              <a:t>Maybe your company mandates certain practices that you can’t change</a:t>
            </a:r>
          </a:p>
          <a:p>
            <a:pPr marL="171450" indent="-171450">
              <a:buFont typeface="Arial" panose="020B0604020202020204" pitchFamily="34" charset="0"/>
              <a:buChar char="•"/>
            </a:pPr>
            <a:r>
              <a:rPr lang="en-GB" dirty="0"/>
              <a:t>Are there any of the points in this talk you can take in to your team</a:t>
            </a:r>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3</a:t>
            </a:fld>
            <a:endParaRPr lang="en-US"/>
          </a:p>
        </p:txBody>
      </p:sp>
    </p:spTree>
    <p:extLst>
      <p:ext uri="{BB962C8B-B14F-4D97-AF65-F5344CB8AC3E}">
        <p14:creationId xmlns:p14="http://schemas.microsoft.com/office/powerpoint/2010/main" val="1643000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I want to draw attention to the 2</a:t>
            </a:r>
            <a:r>
              <a:rPr lang="en-GB" baseline="30000" dirty="0"/>
              <a:t>nd</a:t>
            </a:r>
            <a:r>
              <a:rPr lang="en-GB" dirty="0"/>
              <a:t> point here. The team turns a selection of the work in to an “Increment of value”. What does it mean by an increment of value?</a:t>
            </a:r>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4</a:t>
            </a:fld>
            <a:endParaRPr lang="en-US"/>
          </a:p>
        </p:txBody>
      </p:sp>
    </p:spTree>
    <p:extLst>
      <p:ext uri="{BB962C8B-B14F-4D97-AF65-F5344CB8AC3E}">
        <p14:creationId xmlns:p14="http://schemas.microsoft.com/office/powerpoint/2010/main" val="3157868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The fact that the Scrum Team sets the Sprint Goal is important</a:t>
            </a:r>
          </a:p>
          <a:p>
            <a:pPr marL="171450" indent="-171450">
              <a:buFont typeface="Arial" panose="020B0604020202020204" pitchFamily="34" charset="0"/>
              <a:buChar char="•"/>
            </a:pPr>
            <a:r>
              <a:rPr lang="en-GB" dirty="0"/>
              <a:t>How many people set a Sprint goal – instead of just selecting the top stories on the backlog?</a:t>
            </a:r>
          </a:p>
          <a:p>
            <a:pPr marL="0" indent="0">
              <a:buFont typeface="Arial" panose="020B0604020202020204" pitchFamily="34" charset="0"/>
              <a:buNone/>
            </a:pPr>
            <a:endParaRPr lang="en-GB" dirty="0"/>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5</a:t>
            </a:fld>
            <a:endParaRPr lang="en-US"/>
          </a:p>
        </p:txBody>
      </p:sp>
    </p:spTree>
    <p:extLst>
      <p:ext uri="{BB962C8B-B14F-4D97-AF65-F5344CB8AC3E}">
        <p14:creationId xmlns:p14="http://schemas.microsoft.com/office/powerpoint/2010/main" val="3698534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This is a powerful concept</a:t>
            </a:r>
          </a:p>
          <a:p>
            <a:pPr marL="628650" lvl="1" indent="-171450">
              <a:buFont typeface="Arial" panose="020B0604020202020204" pitchFamily="34" charset="0"/>
              <a:buChar char="•"/>
            </a:pPr>
            <a:r>
              <a:rPr lang="en-GB" dirty="0"/>
              <a:t>We are concentrating on delivering a useful and working bit of functionality to the customers or stakeholders</a:t>
            </a:r>
          </a:p>
          <a:p>
            <a:pPr marL="628650" lvl="1" indent="-171450">
              <a:buFont typeface="Arial" panose="020B0604020202020204" pitchFamily="34" charset="0"/>
              <a:buChar char="•"/>
            </a:pPr>
            <a:r>
              <a:rPr lang="en-GB" dirty="0"/>
              <a:t>The stakeholders don’t care how many tickets got closed</a:t>
            </a:r>
          </a:p>
          <a:p>
            <a:pPr marL="628650" lvl="1" indent="-171450">
              <a:buFont typeface="Arial" panose="020B0604020202020204" pitchFamily="34" charset="0"/>
              <a:buChar char="•"/>
            </a:pPr>
            <a:r>
              <a:rPr lang="en-GB" dirty="0"/>
              <a:t>The purpose of the Sprint Review is to demonstrate the Sprint Goal</a:t>
            </a:r>
          </a:p>
          <a:p>
            <a:pPr marL="628650" lvl="1" indent="-171450">
              <a:buFont typeface="Arial" panose="020B0604020202020204" pitchFamily="34" charset="0"/>
              <a:buChar char="•"/>
            </a:pPr>
            <a:r>
              <a:rPr lang="en-GB" dirty="0"/>
              <a:t>The purpose of the Retrospective is to work out how to improve our ability to achieve Sprint Goals.</a:t>
            </a:r>
          </a:p>
          <a:p>
            <a:pPr marL="0" indent="0">
              <a:buFont typeface="Arial" panose="020B0604020202020204" pitchFamily="34" charset="0"/>
              <a:buNone/>
            </a:pPr>
            <a:endParaRPr lang="en-GB" dirty="0"/>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6</a:t>
            </a:fld>
            <a:endParaRPr lang="en-US"/>
          </a:p>
        </p:txBody>
      </p:sp>
    </p:spTree>
    <p:extLst>
      <p:ext uri="{BB962C8B-B14F-4D97-AF65-F5344CB8AC3E}">
        <p14:creationId xmlns:p14="http://schemas.microsoft.com/office/powerpoint/2010/main" val="2669062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We’re all experienced developers – why would the business tell us how to solve problems – that’s why they hired us, right?</a:t>
            </a:r>
          </a:p>
          <a:p>
            <a:pPr marL="0" indent="0">
              <a:buFont typeface="Arial" panose="020B0604020202020204" pitchFamily="34" charset="0"/>
              <a:buNone/>
            </a:pPr>
            <a:endParaRPr lang="en-GB" dirty="0"/>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7</a:t>
            </a:fld>
            <a:endParaRPr lang="en-US"/>
          </a:p>
        </p:txBody>
      </p:sp>
    </p:spTree>
    <p:extLst>
      <p:ext uri="{BB962C8B-B14F-4D97-AF65-F5344CB8AC3E}">
        <p14:creationId xmlns:p14="http://schemas.microsoft.com/office/powerpoint/2010/main" val="2700459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8</a:t>
            </a:fld>
            <a:endParaRPr lang="en-US"/>
          </a:p>
        </p:txBody>
      </p:sp>
    </p:spTree>
    <p:extLst>
      <p:ext uri="{BB962C8B-B14F-4D97-AF65-F5344CB8AC3E}">
        <p14:creationId xmlns:p14="http://schemas.microsoft.com/office/powerpoint/2010/main" val="1169608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9</a:t>
            </a:fld>
            <a:endParaRPr lang="en-US"/>
          </a:p>
        </p:txBody>
      </p:sp>
    </p:spTree>
    <p:extLst>
      <p:ext uri="{BB962C8B-B14F-4D97-AF65-F5344CB8AC3E}">
        <p14:creationId xmlns:p14="http://schemas.microsoft.com/office/powerpoint/2010/main" val="621127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10</a:t>
            </a:fld>
            <a:endParaRPr lang="en-US"/>
          </a:p>
        </p:txBody>
      </p:sp>
    </p:spTree>
    <p:extLst>
      <p:ext uri="{BB962C8B-B14F-4D97-AF65-F5344CB8AC3E}">
        <p14:creationId xmlns:p14="http://schemas.microsoft.com/office/powerpoint/2010/main" val="3925268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11</a:t>
            </a:fld>
            <a:endParaRPr lang="en-US"/>
          </a:p>
        </p:txBody>
      </p:sp>
    </p:spTree>
    <p:extLst>
      <p:ext uri="{BB962C8B-B14F-4D97-AF65-F5344CB8AC3E}">
        <p14:creationId xmlns:p14="http://schemas.microsoft.com/office/powerpoint/2010/main" val="999301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Date Placeholder 3"/>
          <p:cNvSpPr>
            <a:spLocks noGrp="1"/>
          </p:cNvSpPr>
          <p:nvPr>
            <p:ph type="dt" idx="1"/>
          </p:nvPr>
        </p:nvSpPr>
        <p:spPr/>
        <p:txBody>
          <a:bodyPr/>
          <a:lstStyle/>
          <a:p>
            <a:pPr rtl="0"/>
            <a:fld id="{DF4EEB86-F496-4E4F-8177-5ED3E84B3BB3}" type="datetime1">
              <a:rPr lang="en-US" smtClean="0"/>
              <a:t>4/25/2023</a:t>
            </a:fld>
            <a:endParaRPr lang="en-US"/>
          </a:p>
        </p:txBody>
      </p:sp>
      <p:sp>
        <p:nvSpPr>
          <p:cNvPr id="5" name="Slide Number Placeholder 4"/>
          <p:cNvSpPr>
            <a:spLocks noGrp="1"/>
          </p:cNvSpPr>
          <p:nvPr>
            <p:ph type="sldNum" sz="quarter" idx="5"/>
          </p:nvPr>
        </p:nvSpPr>
        <p:spPr/>
        <p:txBody>
          <a:bodyPr/>
          <a:lstStyle/>
          <a:p>
            <a:pPr rtl="0"/>
            <a:fld id="{01B41D33-19C8-4450-B3C5-BE83E9C8F0BC}" type="slidenum">
              <a:rPr lang="en-US" smtClean="0"/>
              <a:t>12</a:t>
            </a:fld>
            <a:endParaRPr lang="en-US"/>
          </a:p>
        </p:txBody>
      </p:sp>
    </p:spTree>
    <p:extLst>
      <p:ext uri="{BB962C8B-B14F-4D97-AF65-F5344CB8AC3E}">
        <p14:creationId xmlns:p14="http://schemas.microsoft.com/office/powerpoint/2010/main" val="3723048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FE35F4B9-F1B0-40F5-8173-5B51380DB1EB}" type="datetime1">
              <a:rPr lang="en-US" smtClean="0"/>
              <a:t>4/25/2023</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rtlCol="0"/>
          <a:lstStyle/>
          <a:p>
            <a:pPr rtl="0"/>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rtlCol="0"/>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3459BC2B-8608-4C92-BFC1-109EE59EA623}" type="datetime1">
              <a:rPr lang="en-US" smtClean="0"/>
              <a:t>4/25/2023</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5C18D62E-6229-450B-ABA0-A46BB7A2220C}" type="datetime1">
              <a:rPr lang="en-US" smtClean="0"/>
              <a:t>4/25/2023</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rtlCol="0"/>
          <a:lstStyle/>
          <a:p>
            <a:pPr rtl="0"/>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rtlCol="0">
            <a:norm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rtlCol="0">
            <a:norm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5" name="Date Placeholder 4"/>
          <p:cNvSpPr>
            <a:spLocks noGrp="1"/>
          </p:cNvSpPr>
          <p:nvPr>
            <p:ph type="dt" sz="half" idx="10"/>
          </p:nvPr>
        </p:nvSpPr>
        <p:spPr/>
        <p:txBody>
          <a:bodyPr rtlCol="0"/>
          <a:lstStyle/>
          <a:p>
            <a:pPr rtl="0"/>
            <a:fld id="{D8A05BE0-1BBE-4892-81AC-B2168C786F75}" type="datetime1">
              <a:rPr lang="en-US" smtClean="0"/>
              <a:t>4/25/2023</a:t>
            </a:fld>
            <a:endParaRPr lang="en-US" dirty="0"/>
          </a:p>
        </p:txBody>
      </p:sp>
      <p:sp>
        <p:nvSpPr>
          <p:cNvPr id="6" name="Footer Placeholder 5"/>
          <p:cNvSpPr>
            <a:spLocks noGrp="1"/>
          </p:cNvSpPr>
          <p:nvPr>
            <p:ph type="ftr" sz="quarter" idx="11"/>
          </p:nvPr>
        </p:nvSpPr>
        <p:spPr/>
        <p:txBody>
          <a:bodyPr rtlCol="0"/>
          <a:lstStyle/>
          <a:p>
            <a:pPr rtl="0"/>
            <a:endParaRPr lang="en-US" dirty="0"/>
          </a:p>
        </p:txBody>
      </p:sp>
      <p:sp>
        <p:nvSpPr>
          <p:cNvPr id="7" name="Slide Number Placeholder 6"/>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rtlCol="0"/>
          <a:lstStyle/>
          <a:p>
            <a:pPr rtl="0"/>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rtlCol="0"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rtlCol="0" anchor="t">
            <a:norm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rtlCol="0" anchor="t">
            <a:norm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7" name="Date Placeholder 6"/>
          <p:cNvSpPr>
            <a:spLocks noGrp="1"/>
          </p:cNvSpPr>
          <p:nvPr>
            <p:ph type="dt" sz="half" idx="10"/>
          </p:nvPr>
        </p:nvSpPr>
        <p:spPr/>
        <p:txBody>
          <a:bodyPr rtlCol="0"/>
          <a:lstStyle/>
          <a:p>
            <a:pPr rtl="0"/>
            <a:fld id="{D98B1981-3C58-4D11-A147-F8A0681CD1E5}" type="datetime1">
              <a:rPr lang="en-US" smtClean="0"/>
              <a:t>4/25/2023</a:t>
            </a:fld>
            <a:endParaRPr lang="en-US" dirty="0"/>
          </a:p>
        </p:txBody>
      </p:sp>
      <p:sp>
        <p:nvSpPr>
          <p:cNvPr id="8" name="Footer Placeholder 7"/>
          <p:cNvSpPr>
            <a:spLocks noGrp="1"/>
          </p:cNvSpPr>
          <p:nvPr>
            <p:ph type="ftr" sz="quarter" idx="11"/>
          </p:nvPr>
        </p:nvSpPr>
        <p:spPr/>
        <p:txBody>
          <a:bodyPr rtlCol="0"/>
          <a:lstStyle/>
          <a:p>
            <a:pPr rtl="0"/>
            <a:endParaRPr lang="en-US" dirty="0"/>
          </a:p>
        </p:txBody>
      </p:sp>
      <p:sp>
        <p:nvSpPr>
          <p:cNvPr id="9" name="Slide Number Placeholder 8"/>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rtlCol="0"/>
          <a:lstStyle/>
          <a:p>
            <a:pPr rtl="0"/>
            <a:r>
              <a:rPr lang="en-US"/>
              <a:t>Click to edit Master title style</a:t>
            </a:r>
            <a:endParaRPr lang="en-US" dirty="0"/>
          </a:p>
        </p:txBody>
      </p:sp>
      <p:sp>
        <p:nvSpPr>
          <p:cNvPr id="3" name="Date Placeholder 2"/>
          <p:cNvSpPr>
            <a:spLocks noGrp="1"/>
          </p:cNvSpPr>
          <p:nvPr>
            <p:ph type="dt" sz="half" idx="10"/>
          </p:nvPr>
        </p:nvSpPr>
        <p:spPr/>
        <p:txBody>
          <a:bodyPr rtlCol="0"/>
          <a:lstStyle/>
          <a:p>
            <a:pPr rtl="0"/>
            <a:fld id="{342ED271-FE3F-4F86-A29A-C649AC4E9E09}" type="datetime1">
              <a:rPr lang="en-US" smtClean="0"/>
              <a:t>4/25/2023</a:t>
            </a:fld>
            <a:endParaRPr lang="en-US" dirty="0"/>
          </a:p>
        </p:txBody>
      </p:sp>
      <p:sp>
        <p:nvSpPr>
          <p:cNvPr id="4" name="Footer Placeholder 3"/>
          <p:cNvSpPr>
            <a:spLocks noGrp="1"/>
          </p:cNvSpPr>
          <p:nvPr>
            <p:ph type="ftr" sz="quarter" idx="11"/>
          </p:nvPr>
        </p:nvSpPr>
        <p:spPr/>
        <p:txBody>
          <a:bodyPr rtlCol="0"/>
          <a:lstStyle/>
          <a:p>
            <a:pPr rtl="0"/>
            <a:endParaRPr lang="en-US" dirty="0"/>
          </a:p>
        </p:txBody>
      </p:sp>
      <p:sp>
        <p:nvSpPr>
          <p:cNvPr id="5" name="Slide Number Placeholder 4"/>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E596831C-B66C-4213-A8C7-0B8BF9EE4B8C}" type="datetime1">
              <a:rPr lang="en-US" smtClean="0"/>
              <a:t>4/25/2023</a:t>
            </a:fld>
            <a:endParaRPr lang="en-US" dirty="0"/>
          </a:p>
        </p:txBody>
      </p:sp>
      <p:sp>
        <p:nvSpPr>
          <p:cNvPr id="3" name="Footer Placeholder 2"/>
          <p:cNvSpPr>
            <a:spLocks noGrp="1"/>
          </p:cNvSpPr>
          <p:nvPr>
            <p:ph type="ftr" sz="quarter" idx="11"/>
          </p:nvPr>
        </p:nvSpPr>
        <p:spPr/>
        <p:txBody>
          <a:bodyPr rtlCol="0"/>
          <a:lstStyle/>
          <a:p>
            <a:pPr rtl="0"/>
            <a:endParaRPr lang="en-US" dirty="0"/>
          </a:p>
        </p:txBody>
      </p:sp>
      <p:sp>
        <p:nvSpPr>
          <p:cNvPr id="4" name="Slide Number Placeholder 3"/>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rtlCol="0" anchor="b">
            <a:normAutofit/>
          </a:bodyPr>
          <a:lstStyle>
            <a:lvl1pPr algn="l">
              <a:defRPr sz="2400" b="0">
                <a:solidFill>
                  <a:srgbClr val="FFFFFF"/>
                </a:solidFill>
              </a:defRPr>
            </a:lvl1pPr>
          </a:lstStyle>
          <a:p>
            <a:pPr rtl="0"/>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B37C7D90-4A77-446C-81CE-D117E7114A23}" type="datetime1">
              <a:rPr lang="en-US" smtClean="0"/>
              <a:t>4/25/2023</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a:t>Click to edit Master text styles</a:t>
            </a:r>
          </a:p>
        </p:txBody>
      </p:sp>
      <p:sp>
        <p:nvSpPr>
          <p:cNvPr id="5" name="Date Placeholder 4"/>
          <p:cNvSpPr>
            <a:spLocks noGrp="1"/>
          </p:cNvSpPr>
          <p:nvPr>
            <p:ph type="dt" sz="half" idx="10"/>
          </p:nvPr>
        </p:nvSpPr>
        <p:spPr/>
        <p:txBody>
          <a:bodyPr rtlCol="0"/>
          <a:lstStyle/>
          <a:p>
            <a:pPr rtl="0"/>
            <a:fld id="{3A552D4A-6811-400E-B3D6-0E46414D9E26}" type="datetime1">
              <a:rPr lang="en-US" smtClean="0"/>
              <a:t>4/25/2023</a:t>
            </a:fld>
            <a:endParaRPr lang="en-US" dirty="0"/>
          </a:p>
        </p:txBody>
      </p:sp>
      <p:sp>
        <p:nvSpPr>
          <p:cNvPr id="6" name="Footer Placeholder 5"/>
          <p:cNvSpPr>
            <a:spLocks noGrp="1"/>
          </p:cNvSpPr>
          <p:nvPr>
            <p:ph type="ftr" sz="quarter" idx="11"/>
          </p:nvPr>
        </p:nvSpPr>
        <p:spPr/>
        <p:txBody>
          <a:bodyPr rtlCol="0"/>
          <a:lstStyle/>
          <a:p>
            <a:pPr algn="l" rtl="0"/>
            <a:endParaRPr lang="en-US" dirty="0"/>
          </a:p>
        </p:txBody>
      </p:sp>
      <p:sp>
        <p:nvSpPr>
          <p:cNvPr id="7" name="Slide Number Placeholder 6"/>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rtlCol="0"/>
          <a:lstStyle/>
          <a:p>
            <a:pPr rtl="0"/>
            <a:r>
              <a:rPr lang="en-US"/>
              <a:t>Click to edit Master title style</a:t>
            </a:r>
            <a:endParaRPr lang="en-US" dirty="0"/>
          </a:p>
        </p:txBody>
      </p:sp>
      <p:sp>
        <p:nvSpPr>
          <p:cNvPr id="3" name="Vertical Text Placeholder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4" name="Date Placeholder 3"/>
          <p:cNvSpPr>
            <a:spLocks noGrp="1"/>
          </p:cNvSpPr>
          <p:nvPr>
            <p:ph type="dt" sz="half" idx="10"/>
          </p:nvPr>
        </p:nvSpPr>
        <p:spPr/>
        <p:txBody>
          <a:bodyPr rtlCol="0"/>
          <a:lstStyle/>
          <a:p>
            <a:pPr rtl="0"/>
            <a:fld id="{01801B09-E5B3-4255-99D1-E8D6E12FFBCA}" type="datetime1">
              <a:rPr lang="en-US" smtClean="0"/>
              <a:t>4/25/2023</a:t>
            </a:fld>
            <a:endParaRPr lang="en-US" dirty="0"/>
          </a:p>
        </p:txBody>
      </p:sp>
      <p:sp>
        <p:nvSpPr>
          <p:cNvPr id="5" name="Footer Placeholder 4"/>
          <p:cNvSpPr>
            <a:spLocks noGrp="1"/>
          </p:cNvSpPr>
          <p:nvPr>
            <p:ph type="ftr" sz="quarter" idx="11"/>
          </p:nvPr>
        </p:nvSpPr>
        <p:spPr/>
        <p:txBody>
          <a:bodyPr rtlCol="0"/>
          <a:lstStyle/>
          <a:p>
            <a:pPr rtl="0"/>
            <a:endParaRPr lang="en-US" dirty="0"/>
          </a:p>
        </p:txBody>
      </p:sp>
      <p:sp>
        <p:nvSpPr>
          <p:cNvPr id="6" name="Slide Number Placeholder 5"/>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rtlCol="0" anchor="t"/>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79771E5F-836D-42BC-953F-FC50A1320578}" type="datetime1">
              <a:rPr lang="en-US" smtClean="0"/>
              <a:t>4/25/2023</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87D7C6DD-97B6-4D8D-952A-561C76A601BB}" type="datetime1">
              <a:rPr lang="en-US" smtClean="0"/>
              <a:t>4/25/2023</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rtlCol="0">
            <a:normAutofit/>
          </a:bodyPr>
          <a:lstStyle/>
          <a:p>
            <a:pPr rtl="0"/>
            <a:r>
              <a:rPr lang="en-gb" dirty="0"/>
              <a:t>Shooting for the (Sprint) Goal </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rtlCol="0">
            <a:normAutofit/>
          </a:bodyPr>
          <a:lstStyle/>
          <a:p>
            <a:pPr rtl="0"/>
            <a:r>
              <a:rPr lang="en-gb" dirty="0"/>
              <a:t>The importance of setting good sprint goals in scrum</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 close up of a logo&#10;&#10;Description automatically generated">
            <a:extLst>
              <a:ext uri="{FF2B5EF4-FFF2-40B4-BE49-F238E27FC236}">
                <a16:creationId xmlns:a16="http://schemas.microsoft.com/office/drawing/2014/main" id="{F1A8C364-94D4-4630-BAD0-78722F347055}"/>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FA7F0-5271-F304-EA6A-1F6B7A315BDB}"/>
              </a:ext>
            </a:extLst>
          </p:cNvPr>
          <p:cNvSpPr>
            <a:spLocks noGrp="1"/>
          </p:cNvSpPr>
          <p:nvPr>
            <p:ph type="title"/>
          </p:nvPr>
        </p:nvSpPr>
        <p:spPr/>
        <p:txBody>
          <a:bodyPr/>
          <a:lstStyle/>
          <a:p>
            <a:r>
              <a:rPr lang="en-GB" dirty="0"/>
              <a:t>Paul Axon</a:t>
            </a:r>
          </a:p>
        </p:txBody>
      </p:sp>
      <p:sp>
        <p:nvSpPr>
          <p:cNvPr id="3" name="Content Placeholder 2">
            <a:extLst>
              <a:ext uri="{FF2B5EF4-FFF2-40B4-BE49-F238E27FC236}">
                <a16:creationId xmlns:a16="http://schemas.microsoft.com/office/drawing/2014/main" id="{2EE7AC0C-31C6-5DC4-E12B-AC532851EDBA}"/>
              </a:ext>
            </a:extLst>
          </p:cNvPr>
          <p:cNvSpPr>
            <a:spLocks noGrp="1"/>
          </p:cNvSpPr>
          <p:nvPr>
            <p:ph idx="1"/>
          </p:nvPr>
        </p:nvSpPr>
        <p:spPr>
          <a:xfrm>
            <a:off x="581192" y="2278518"/>
            <a:ext cx="11029615" cy="3634486"/>
          </a:xfrm>
        </p:spPr>
        <p:txBody>
          <a:bodyPr/>
          <a:lstStyle/>
          <a:p>
            <a:r>
              <a:rPr lang="en-GB" dirty="0"/>
              <a:t>blog.paulaxon.co.uk</a:t>
            </a:r>
          </a:p>
          <a:p>
            <a:r>
              <a:rPr lang="en-GB" dirty="0"/>
              <a:t>www.linkedin.com/in/axon-paul</a:t>
            </a:r>
          </a:p>
          <a:p>
            <a:r>
              <a:rPr lang="en-GB" dirty="0"/>
              <a:t>Worked in various scrum teams on and off for over 10 years</a:t>
            </a:r>
          </a:p>
          <a:p>
            <a:r>
              <a:rPr lang="en-GB" dirty="0"/>
              <a:t>Gained Scrum Inc Registered Scrum Master certification in 2021</a:t>
            </a:r>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428287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FA7F0-5271-F304-EA6A-1F6B7A315BDB}"/>
              </a:ext>
            </a:extLst>
          </p:cNvPr>
          <p:cNvSpPr>
            <a:spLocks noGrp="1"/>
          </p:cNvSpPr>
          <p:nvPr>
            <p:ph type="title"/>
          </p:nvPr>
        </p:nvSpPr>
        <p:spPr/>
        <p:txBody>
          <a:bodyPr/>
          <a:lstStyle/>
          <a:p>
            <a:r>
              <a:rPr lang="en-GB" dirty="0"/>
              <a:t>Shooting for the (sprint) goal</a:t>
            </a:r>
          </a:p>
        </p:txBody>
      </p:sp>
      <p:sp>
        <p:nvSpPr>
          <p:cNvPr id="3" name="Content Placeholder 2">
            <a:extLst>
              <a:ext uri="{FF2B5EF4-FFF2-40B4-BE49-F238E27FC236}">
                <a16:creationId xmlns:a16="http://schemas.microsoft.com/office/drawing/2014/main" id="{2EE7AC0C-31C6-5DC4-E12B-AC532851EDBA}"/>
              </a:ext>
            </a:extLst>
          </p:cNvPr>
          <p:cNvSpPr>
            <a:spLocks noGrp="1"/>
          </p:cNvSpPr>
          <p:nvPr>
            <p:ph idx="1"/>
          </p:nvPr>
        </p:nvSpPr>
        <p:spPr/>
        <p:txBody>
          <a:bodyPr>
            <a:normAutofit/>
          </a:bodyPr>
          <a:lstStyle/>
          <a:p>
            <a:r>
              <a:rPr lang="en-GB" sz="2800" b="1" dirty="0"/>
              <a:t>What</a:t>
            </a:r>
            <a:r>
              <a:rPr lang="en-GB" sz="2800" dirty="0"/>
              <a:t> is a Sprint Goal and who sets it?</a:t>
            </a:r>
          </a:p>
          <a:p>
            <a:r>
              <a:rPr lang="en-GB" sz="2800" b="1" dirty="0"/>
              <a:t>Why</a:t>
            </a:r>
            <a:r>
              <a:rPr lang="en-GB" sz="2800" dirty="0"/>
              <a:t> is it important?</a:t>
            </a:r>
          </a:p>
          <a:p>
            <a:r>
              <a:rPr lang="en-GB" sz="2800" b="1" dirty="0"/>
              <a:t>How </a:t>
            </a:r>
            <a:r>
              <a:rPr lang="en-GB" sz="2800" dirty="0"/>
              <a:t>can we set better Sprint Goals?</a:t>
            </a:r>
          </a:p>
          <a:p>
            <a:r>
              <a:rPr lang="en-GB" sz="2800" b="1" dirty="0"/>
              <a:t>What </a:t>
            </a:r>
            <a:r>
              <a:rPr lang="en-GB" sz="2800" dirty="0"/>
              <a:t>challenges do we face?</a:t>
            </a:r>
          </a:p>
          <a:p>
            <a:r>
              <a:rPr lang="en-GB" sz="2800" b="1" dirty="0"/>
              <a:t>How </a:t>
            </a:r>
            <a:r>
              <a:rPr lang="en-GB" sz="2800" dirty="0"/>
              <a:t>does this apply to me?</a:t>
            </a:r>
            <a:endParaRPr lang="en-GB" sz="2800" b="1" dirty="0"/>
          </a:p>
        </p:txBody>
      </p:sp>
    </p:spTree>
    <p:extLst>
      <p:ext uri="{BB962C8B-B14F-4D97-AF65-F5344CB8AC3E}">
        <p14:creationId xmlns:p14="http://schemas.microsoft.com/office/powerpoint/2010/main" val="3967802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FA7F0-5271-F304-EA6A-1F6B7A315BDB}"/>
              </a:ext>
            </a:extLst>
          </p:cNvPr>
          <p:cNvSpPr>
            <a:spLocks noGrp="1"/>
          </p:cNvSpPr>
          <p:nvPr>
            <p:ph type="title"/>
          </p:nvPr>
        </p:nvSpPr>
        <p:spPr/>
        <p:txBody>
          <a:bodyPr/>
          <a:lstStyle/>
          <a:p>
            <a:r>
              <a:rPr lang="en-GB" dirty="0"/>
              <a:t>What is scrum?</a:t>
            </a:r>
          </a:p>
        </p:txBody>
      </p:sp>
      <p:sp>
        <p:nvSpPr>
          <p:cNvPr id="3" name="Content Placeholder 2">
            <a:extLst>
              <a:ext uri="{FF2B5EF4-FFF2-40B4-BE49-F238E27FC236}">
                <a16:creationId xmlns:a16="http://schemas.microsoft.com/office/drawing/2014/main" id="{2EE7AC0C-31C6-5DC4-E12B-AC532851EDBA}"/>
              </a:ext>
            </a:extLst>
          </p:cNvPr>
          <p:cNvSpPr>
            <a:spLocks noGrp="1"/>
          </p:cNvSpPr>
          <p:nvPr>
            <p:ph idx="1"/>
          </p:nvPr>
        </p:nvSpPr>
        <p:spPr/>
        <p:txBody>
          <a:bodyPr>
            <a:noAutofit/>
          </a:bodyPr>
          <a:lstStyle/>
          <a:p>
            <a:pPr marL="0" indent="0">
              <a:buNone/>
            </a:pPr>
            <a:r>
              <a:rPr lang="en-US" sz="2000" b="1" dirty="0"/>
              <a:t>   </a:t>
            </a:r>
          </a:p>
          <a:p>
            <a:pPr marL="0" indent="0">
              <a:buNone/>
            </a:pPr>
            <a:r>
              <a:rPr lang="en-US" sz="2000" b="1" u="sng" dirty="0"/>
              <a:t>Scrum Guide Definition:</a:t>
            </a:r>
          </a:p>
          <a:p>
            <a:pPr marL="342900" indent="-342900">
              <a:buFont typeface="+mj-lt"/>
              <a:buAutoNum type="arabicPeriod"/>
            </a:pPr>
            <a:r>
              <a:rPr lang="en-US" sz="2000" dirty="0"/>
              <a:t>A Product Owner orders the work for a complex problem into a Product Backlog.</a:t>
            </a:r>
          </a:p>
          <a:p>
            <a:pPr marL="342900" indent="-342900">
              <a:buFont typeface="+mj-lt"/>
              <a:buAutoNum type="arabicPeriod"/>
            </a:pPr>
            <a:r>
              <a:rPr lang="en-US" sz="2000" dirty="0"/>
              <a:t>The Scrum Team turns a selection of the work into an Increment of value during a Sprint.</a:t>
            </a:r>
          </a:p>
          <a:p>
            <a:pPr marL="342900" indent="-342900">
              <a:buFont typeface="+mj-lt"/>
              <a:buAutoNum type="arabicPeriod"/>
            </a:pPr>
            <a:r>
              <a:rPr lang="en-US" sz="2000" dirty="0"/>
              <a:t>The Scrum Team and its stakeholders inspect the results and adjust for the next Sprint.</a:t>
            </a:r>
          </a:p>
          <a:p>
            <a:pPr marL="342900" indent="-342900">
              <a:buFont typeface="+mj-lt"/>
              <a:buAutoNum type="arabicPeriod"/>
            </a:pPr>
            <a:r>
              <a:rPr lang="en-US" sz="2000" dirty="0"/>
              <a:t>Repeat</a:t>
            </a:r>
          </a:p>
        </p:txBody>
      </p:sp>
      <p:pic>
        <p:nvPicPr>
          <p:cNvPr id="6" name="Picture 5">
            <a:extLst>
              <a:ext uri="{FF2B5EF4-FFF2-40B4-BE49-F238E27FC236}">
                <a16:creationId xmlns:a16="http://schemas.microsoft.com/office/drawing/2014/main" id="{202A6767-6E83-3C10-AD98-C98558606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8333" y="967676"/>
            <a:ext cx="4010890" cy="2294964"/>
          </a:xfrm>
          <a:prstGeom prst="rect">
            <a:avLst/>
          </a:prstGeom>
        </p:spPr>
      </p:pic>
    </p:spTree>
    <p:extLst>
      <p:ext uri="{BB962C8B-B14F-4D97-AF65-F5344CB8AC3E}">
        <p14:creationId xmlns:p14="http://schemas.microsoft.com/office/powerpoint/2010/main" val="48985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133ECE9-6CD4-A902-9CF5-F85F992C85AF}"/>
              </a:ext>
            </a:extLst>
          </p:cNvPr>
          <p:cNvPicPr>
            <a:picLocks noChangeAspect="1"/>
          </p:cNvPicPr>
          <p:nvPr/>
        </p:nvPicPr>
        <p:blipFill>
          <a:blip r:embed="rId3"/>
          <a:stretch>
            <a:fillRect/>
          </a:stretch>
        </p:blipFill>
        <p:spPr>
          <a:xfrm>
            <a:off x="7218325" y="650027"/>
            <a:ext cx="4584017" cy="2570884"/>
          </a:xfrm>
          <a:prstGeom prst="rect">
            <a:avLst/>
          </a:prstGeom>
        </p:spPr>
      </p:pic>
      <p:sp>
        <p:nvSpPr>
          <p:cNvPr id="2" name="Title 1">
            <a:extLst>
              <a:ext uri="{FF2B5EF4-FFF2-40B4-BE49-F238E27FC236}">
                <a16:creationId xmlns:a16="http://schemas.microsoft.com/office/drawing/2014/main" id="{C2A47136-5686-F1C2-1824-F68588A271F8}"/>
              </a:ext>
            </a:extLst>
          </p:cNvPr>
          <p:cNvSpPr>
            <a:spLocks noGrp="1"/>
          </p:cNvSpPr>
          <p:nvPr>
            <p:ph type="title"/>
          </p:nvPr>
        </p:nvSpPr>
        <p:spPr/>
        <p:txBody>
          <a:bodyPr/>
          <a:lstStyle/>
          <a:p>
            <a:r>
              <a:rPr lang="en-GB" dirty="0"/>
              <a:t>The Sprint Goal</a:t>
            </a:r>
          </a:p>
        </p:txBody>
      </p:sp>
      <p:sp>
        <p:nvSpPr>
          <p:cNvPr id="3" name="Content Placeholder 2">
            <a:extLst>
              <a:ext uri="{FF2B5EF4-FFF2-40B4-BE49-F238E27FC236}">
                <a16:creationId xmlns:a16="http://schemas.microsoft.com/office/drawing/2014/main" id="{3C9B946D-5180-88CA-8B45-82CC61698803}"/>
              </a:ext>
            </a:extLst>
          </p:cNvPr>
          <p:cNvSpPr>
            <a:spLocks noGrp="1"/>
          </p:cNvSpPr>
          <p:nvPr>
            <p:ph idx="1"/>
          </p:nvPr>
        </p:nvSpPr>
        <p:spPr/>
        <p:txBody>
          <a:bodyPr/>
          <a:lstStyle/>
          <a:p>
            <a:r>
              <a:rPr lang="en-GB" dirty="0"/>
              <a:t>At Sprint Planning the Scrum Team ask “Why is this sprint valuable?”</a:t>
            </a:r>
          </a:p>
          <a:p>
            <a:r>
              <a:rPr lang="en-US" dirty="0"/>
              <a:t>What will I be able to do with the product at the end of the sprint that I can’t do now?</a:t>
            </a:r>
          </a:p>
          <a:p>
            <a:r>
              <a:rPr lang="en-GB" dirty="0"/>
              <a:t>The Sprint Goal tells you “why” you are doing the work, e.g. “Update My User Details”</a:t>
            </a:r>
          </a:p>
          <a:p>
            <a:r>
              <a:rPr lang="en-GB" dirty="0"/>
              <a:t>In order to achieve the Sprint Goal we select a set of Backlog Items – the “what” – e.g.</a:t>
            </a:r>
          </a:p>
          <a:p>
            <a:pPr lvl="1"/>
            <a:r>
              <a:rPr lang="en-GB" dirty="0"/>
              <a:t>Change my email address</a:t>
            </a:r>
          </a:p>
          <a:p>
            <a:pPr lvl="1"/>
            <a:r>
              <a:rPr lang="en-GB" dirty="0"/>
              <a:t>Change my password</a:t>
            </a:r>
          </a:p>
          <a:p>
            <a:pPr lvl="1"/>
            <a:r>
              <a:rPr lang="en-GB" dirty="0"/>
              <a:t>Add an avatar</a:t>
            </a:r>
          </a:p>
          <a:p>
            <a:r>
              <a:rPr lang="en-GB" dirty="0"/>
              <a:t>Note that the </a:t>
            </a:r>
            <a:r>
              <a:rPr lang="en-GB" b="1" dirty="0"/>
              <a:t>Scrum Team</a:t>
            </a:r>
            <a:r>
              <a:rPr lang="en-GB" dirty="0"/>
              <a:t> sets the Sprint Goal – this is the team’s </a:t>
            </a:r>
            <a:r>
              <a:rPr lang="en-GB" b="1" dirty="0"/>
              <a:t>Commitment</a:t>
            </a:r>
            <a:r>
              <a:rPr lang="en-GB" dirty="0"/>
              <a:t> for the next Sprint</a:t>
            </a:r>
            <a:endParaRPr lang="en-US" dirty="0"/>
          </a:p>
        </p:txBody>
      </p:sp>
    </p:spTree>
    <p:extLst>
      <p:ext uri="{BB962C8B-B14F-4D97-AF65-F5344CB8AC3E}">
        <p14:creationId xmlns:p14="http://schemas.microsoft.com/office/powerpoint/2010/main" val="47516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6B675F5-4B00-1D8E-A019-77A8A847FE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5847" y="900781"/>
            <a:ext cx="7300478" cy="6284590"/>
          </a:xfrm>
          <a:prstGeom prst="rect">
            <a:avLst/>
          </a:prstGeom>
        </p:spPr>
      </p:pic>
      <p:sp>
        <p:nvSpPr>
          <p:cNvPr id="2" name="Title 1">
            <a:extLst>
              <a:ext uri="{FF2B5EF4-FFF2-40B4-BE49-F238E27FC236}">
                <a16:creationId xmlns:a16="http://schemas.microsoft.com/office/drawing/2014/main" id="{C2A47136-5686-F1C2-1824-F68588A271F8}"/>
              </a:ext>
            </a:extLst>
          </p:cNvPr>
          <p:cNvSpPr>
            <a:spLocks noGrp="1"/>
          </p:cNvSpPr>
          <p:nvPr>
            <p:ph type="title"/>
          </p:nvPr>
        </p:nvSpPr>
        <p:spPr/>
        <p:txBody>
          <a:bodyPr/>
          <a:lstStyle/>
          <a:p>
            <a:r>
              <a:rPr lang="en-GB" dirty="0"/>
              <a:t>Why Set A Sprint Goal?</a:t>
            </a:r>
          </a:p>
        </p:txBody>
      </p:sp>
      <p:sp>
        <p:nvSpPr>
          <p:cNvPr id="3" name="Content Placeholder 2">
            <a:extLst>
              <a:ext uri="{FF2B5EF4-FFF2-40B4-BE49-F238E27FC236}">
                <a16:creationId xmlns:a16="http://schemas.microsoft.com/office/drawing/2014/main" id="{3C9B946D-5180-88CA-8B45-82CC61698803}"/>
              </a:ext>
            </a:extLst>
          </p:cNvPr>
          <p:cNvSpPr>
            <a:spLocks noGrp="1"/>
          </p:cNvSpPr>
          <p:nvPr>
            <p:ph idx="1"/>
          </p:nvPr>
        </p:nvSpPr>
        <p:spPr>
          <a:xfrm>
            <a:off x="394505" y="2174032"/>
            <a:ext cx="4998029" cy="4249882"/>
          </a:xfrm>
        </p:spPr>
        <p:txBody>
          <a:bodyPr>
            <a:normAutofit fontScale="92500"/>
          </a:bodyPr>
          <a:lstStyle/>
          <a:p>
            <a:r>
              <a:rPr lang="en-US" dirty="0"/>
              <a:t>The Sprint Goal is the single objective for the Sprint</a:t>
            </a:r>
          </a:p>
          <a:p>
            <a:r>
              <a:rPr lang="en-US" dirty="0"/>
              <a:t>At the daily stand up the team replans to ensure they are on track to deliver the Sprint Goal</a:t>
            </a:r>
          </a:p>
          <a:p>
            <a:r>
              <a:rPr lang="en-US" dirty="0"/>
              <a:t>If the work turns out to be different to what was expected the team can negotiate with the Product Owner to change the scope of the backlog as long as that does not affect the Sprint Goal</a:t>
            </a:r>
          </a:p>
          <a:p>
            <a:pPr lvl="1"/>
            <a:r>
              <a:rPr lang="en-US" dirty="0"/>
              <a:t>E.g. we could deliver </a:t>
            </a:r>
            <a:r>
              <a:rPr lang="en-GB" dirty="0"/>
              <a:t>“Update My User Details” without “Add an avatar”</a:t>
            </a:r>
          </a:p>
          <a:p>
            <a:r>
              <a:rPr lang="en-GB" dirty="0"/>
              <a:t>Setting a Sprint Goal allows the team to collaborate and innovate on delivering functionality without obsessing on completing a fixed number of work items</a:t>
            </a:r>
            <a:endParaRPr lang="en-US" dirty="0"/>
          </a:p>
        </p:txBody>
      </p:sp>
    </p:spTree>
    <p:extLst>
      <p:ext uri="{BB962C8B-B14F-4D97-AF65-F5344CB8AC3E}">
        <p14:creationId xmlns:p14="http://schemas.microsoft.com/office/powerpoint/2010/main" val="166541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7136-5686-F1C2-1824-F68588A271F8}"/>
              </a:ext>
            </a:extLst>
          </p:cNvPr>
          <p:cNvSpPr>
            <a:spLocks noGrp="1"/>
          </p:cNvSpPr>
          <p:nvPr>
            <p:ph type="title"/>
          </p:nvPr>
        </p:nvSpPr>
        <p:spPr/>
        <p:txBody>
          <a:bodyPr/>
          <a:lstStyle/>
          <a:p>
            <a:r>
              <a:rPr lang="en-GB" dirty="0"/>
              <a:t>Benefits of a Sprint Goal</a:t>
            </a:r>
            <a:br>
              <a:rPr lang="en-GB" dirty="0"/>
            </a:br>
            <a:r>
              <a:rPr lang="en-GB" dirty="0"/>
              <a:t>- focus &amp; COHERENCE</a:t>
            </a:r>
          </a:p>
        </p:txBody>
      </p:sp>
      <p:sp>
        <p:nvSpPr>
          <p:cNvPr id="3" name="Content Placeholder 2">
            <a:extLst>
              <a:ext uri="{FF2B5EF4-FFF2-40B4-BE49-F238E27FC236}">
                <a16:creationId xmlns:a16="http://schemas.microsoft.com/office/drawing/2014/main" id="{3C9B946D-5180-88CA-8B45-82CC61698803}"/>
              </a:ext>
            </a:extLst>
          </p:cNvPr>
          <p:cNvSpPr>
            <a:spLocks noGrp="1"/>
          </p:cNvSpPr>
          <p:nvPr>
            <p:ph idx="1"/>
          </p:nvPr>
        </p:nvSpPr>
        <p:spPr/>
        <p:txBody>
          <a:bodyPr/>
          <a:lstStyle/>
          <a:p>
            <a:r>
              <a:rPr lang="en-GB" dirty="0"/>
              <a:t>I know </a:t>
            </a:r>
            <a:r>
              <a:rPr lang="en-GB" i="1" dirty="0"/>
              <a:t>why </a:t>
            </a:r>
            <a:r>
              <a:rPr lang="en-GB" dirty="0"/>
              <a:t>I am doing the work I’m doing</a:t>
            </a:r>
          </a:p>
          <a:p>
            <a:pPr lvl="1"/>
            <a:r>
              <a:rPr lang="en-GB" dirty="0"/>
              <a:t>I can innovate to deliver the best solutions</a:t>
            </a:r>
          </a:p>
          <a:p>
            <a:pPr lvl="1"/>
            <a:r>
              <a:rPr lang="en-GB" dirty="0"/>
              <a:t>Without a sprint goal I just have a bunch of “things” to do – a Sprint Goal gives me purpose</a:t>
            </a:r>
          </a:p>
          <a:p>
            <a:r>
              <a:rPr lang="en-GB" dirty="0"/>
              <a:t>The team works together to deliver the product increment</a:t>
            </a:r>
          </a:p>
          <a:p>
            <a:pPr lvl="1"/>
            <a:r>
              <a:rPr lang="en-GB" dirty="0"/>
              <a:t>Increase Teamwork</a:t>
            </a:r>
          </a:p>
          <a:p>
            <a:pPr lvl="1"/>
            <a:r>
              <a:rPr lang="en-GB" dirty="0"/>
              <a:t>Reduce siloing</a:t>
            </a:r>
          </a:p>
        </p:txBody>
      </p:sp>
    </p:spTree>
    <p:extLst>
      <p:ext uri="{BB962C8B-B14F-4D97-AF65-F5344CB8AC3E}">
        <p14:creationId xmlns:p14="http://schemas.microsoft.com/office/powerpoint/2010/main" val="116841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7136-5686-F1C2-1824-F68588A271F8}"/>
              </a:ext>
            </a:extLst>
          </p:cNvPr>
          <p:cNvSpPr>
            <a:spLocks noGrp="1"/>
          </p:cNvSpPr>
          <p:nvPr>
            <p:ph type="title"/>
          </p:nvPr>
        </p:nvSpPr>
        <p:spPr/>
        <p:txBody>
          <a:bodyPr/>
          <a:lstStyle/>
          <a:p>
            <a:r>
              <a:rPr lang="en-GB" dirty="0"/>
              <a:t>Benefits of a Sprint Goal</a:t>
            </a:r>
            <a:br>
              <a:rPr lang="en-GB" dirty="0"/>
            </a:br>
            <a:r>
              <a:rPr lang="en-GB" dirty="0"/>
              <a:t>- Delivering something useful every sprint</a:t>
            </a:r>
          </a:p>
        </p:txBody>
      </p:sp>
      <p:sp>
        <p:nvSpPr>
          <p:cNvPr id="3" name="Content Placeholder 2">
            <a:extLst>
              <a:ext uri="{FF2B5EF4-FFF2-40B4-BE49-F238E27FC236}">
                <a16:creationId xmlns:a16="http://schemas.microsoft.com/office/drawing/2014/main" id="{3C9B946D-5180-88CA-8B45-82CC61698803}"/>
              </a:ext>
            </a:extLst>
          </p:cNvPr>
          <p:cNvSpPr>
            <a:spLocks noGrp="1"/>
          </p:cNvSpPr>
          <p:nvPr>
            <p:ph idx="1"/>
          </p:nvPr>
        </p:nvSpPr>
        <p:spPr/>
        <p:txBody>
          <a:bodyPr/>
          <a:lstStyle/>
          <a:p>
            <a:pPr lvl="1"/>
            <a:r>
              <a:rPr lang="en-US" dirty="0"/>
              <a:t>Getting used to success</a:t>
            </a:r>
          </a:p>
          <a:p>
            <a:pPr lvl="2"/>
            <a:r>
              <a:rPr lang="en-US" dirty="0"/>
              <a:t>Who doesn’t want to succeed every two weeks instead of waiting months and months to see if what we’ve done is correct?</a:t>
            </a:r>
          </a:p>
          <a:p>
            <a:pPr lvl="1"/>
            <a:r>
              <a:rPr lang="en-US" dirty="0"/>
              <a:t>Better estimation</a:t>
            </a:r>
          </a:p>
          <a:p>
            <a:pPr lvl="2"/>
            <a:r>
              <a:rPr lang="en-US" dirty="0"/>
              <a:t>We know what functionality we’ve delivered not just what tickets got closed</a:t>
            </a:r>
          </a:p>
          <a:p>
            <a:pPr lvl="1"/>
            <a:r>
              <a:rPr lang="en-US" dirty="0"/>
              <a:t>More opportunities to get feedback on what we’ve built</a:t>
            </a:r>
          </a:p>
          <a:p>
            <a:pPr lvl="2"/>
            <a:r>
              <a:rPr lang="en-US" dirty="0"/>
              <a:t>The first principle on the Agile Manifesto is “Our highest priority is to satisfy the customer through early and continuous delivery of valuable software”</a:t>
            </a:r>
          </a:p>
          <a:p>
            <a:pPr lvl="2"/>
            <a:r>
              <a:rPr lang="en-US" dirty="0"/>
              <a:t>If what we’ve built is wrong, never mind because we have an opportunity to pivot and try something else</a:t>
            </a:r>
          </a:p>
          <a:p>
            <a:pPr lvl="2"/>
            <a:r>
              <a:rPr lang="en-US" dirty="0"/>
              <a:t>More opportunities to tell if we are on track</a:t>
            </a:r>
          </a:p>
          <a:p>
            <a:pPr lvl="1"/>
            <a:endParaRPr lang="en-US" dirty="0"/>
          </a:p>
        </p:txBody>
      </p:sp>
    </p:spTree>
    <p:extLst>
      <p:ext uri="{BB962C8B-B14F-4D97-AF65-F5344CB8AC3E}">
        <p14:creationId xmlns:p14="http://schemas.microsoft.com/office/powerpoint/2010/main" val="218050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7136-5686-F1C2-1824-F68588A271F8}"/>
              </a:ext>
            </a:extLst>
          </p:cNvPr>
          <p:cNvSpPr>
            <a:spLocks noGrp="1"/>
          </p:cNvSpPr>
          <p:nvPr>
            <p:ph type="title"/>
          </p:nvPr>
        </p:nvSpPr>
        <p:spPr/>
        <p:txBody>
          <a:bodyPr/>
          <a:lstStyle/>
          <a:p>
            <a:r>
              <a:rPr lang="en-GB" dirty="0"/>
              <a:t>Benefits of a Sprint Goal</a:t>
            </a:r>
            <a:br>
              <a:rPr lang="en-GB" dirty="0"/>
            </a:br>
            <a:r>
              <a:rPr lang="en-GB" dirty="0"/>
              <a:t>- Better meetings</a:t>
            </a:r>
          </a:p>
        </p:txBody>
      </p:sp>
      <p:sp>
        <p:nvSpPr>
          <p:cNvPr id="3" name="Content Placeholder 2">
            <a:extLst>
              <a:ext uri="{FF2B5EF4-FFF2-40B4-BE49-F238E27FC236}">
                <a16:creationId xmlns:a16="http://schemas.microsoft.com/office/drawing/2014/main" id="{3C9B946D-5180-88CA-8B45-82CC61698803}"/>
              </a:ext>
            </a:extLst>
          </p:cNvPr>
          <p:cNvSpPr>
            <a:spLocks noGrp="1"/>
          </p:cNvSpPr>
          <p:nvPr>
            <p:ph idx="1"/>
          </p:nvPr>
        </p:nvSpPr>
        <p:spPr>
          <a:xfrm>
            <a:off x="446110" y="1652155"/>
            <a:ext cx="11029615" cy="5288973"/>
          </a:xfrm>
        </p:spPr>
        <p:txBody>
          <a:bodyPr>
            <a:normAutofit/>
          </a:bodyPr>
          <a:lstStyle/>
          <a:p>
            <a:pPr lvl="1"/>
            <a:r>
              <a:rPr lang="en-US" sz="1600" dirty="0"/>
              <a:t>Daily Scrum</a:t>
            </a:r>
          </a:p>
          <a:p>
            <a:pPr lvl="2"/>
            <a:r>
              <a:rPr lang="en-US" sz="1400" dirty="0"/>
              <a:t>An opportunity to review progress toward the Sprint Goal and replan as necessary to ensure it is delivered</a:t>
            </a:r>
          </a:p>
          <a:p>
            <a:pPr lvl="2"/>
            <a:r>
              <a:rPr lang="en-US" sz="1400" dirty="0"/>
              <a:t>This may mean adjusting the Sprint Backlog</a:t>
            </a:r>
          </a:p>
          <a:p>
            <a:pPr lvl="2"/>
            <a:r>
              <a:rPr lang="en-US" sz="1400" dirty="0"/>
              <a:t>The team can replan </a:t>
            </a:r>
            <a:r>
              <a:rPr lang="en-US" sz="1400" i="1" dirty="0"/>
              <a:t>throughout</a:t>
            </a:r>
            <a:r>
              <a:rPr lang="en-US" sz="1400" dirty="0"/>
              <a:t> the day as necessary</a:t>
            </a:r>
          </a:p>
          <a:p>
            <a:pPr lvl="1"/>
            <a:r>
              <a:rPr lang="en-US" sz="1600" dirty="0"/>
              <a:t>Sprint Review</a:t>
            </a:r>
          </a:p>
          <a:p>
            <a:pPr lvl="2"/>
            <a:r>
              <a:rPr lang="en-US" sz="1400" dirty="0"/>
              <a:t>Is no longer just a bunch of unrelated “things” that were done it now has a focus</a:t>
            </a:r>
          </a:p>
          <a:p>
            <a:pPr lvl="2"/>
            <a:r>
              <a:rPr lang="en-US" sz="1400" dirty="0"/>
              <a:t>Did the team achieve the Sprint Goal?</a:t>
            </a:r>
          </a:p>
          <a:p>
            <a:pPr lvl="1"/>
            <a:r>
              <a:rPr lang="en-US" sz="1600" dirty="0"/>
              <a:t>Sprint Planning</a:t>
            </a:r>
          </a:p>
          <a:p>
            <a:pPr lvl="2"/>
            <a:r>
              <a:rPr lang="en-US" sz="1400" dirty="0"/>
              <a:t>Has a purpose – what is the Sprint Goal and how will we achieve it?</a:t>
            </a:r>
          </a:p>
          <a:p>
            <a:pPr lvl="1"/>
            <a:r>
              <a:rPr lang="en-US" sz="1600" dirty="0"/>
              <a:t>Retrospective</a:t>
            </a:r>
          </a:p>
          <a:p>
            <a:pPr lvl="2"/>
            <a:r>
              <a:rPr lang="en-US" sz="1400" dirty="0"/>
              <a:t>Did we achieve the Sprint Goal?</a:t>
            </a:r>
          </a:p>
          <a:p>
            <a:pPr lvl="3"/>
            <a:r>
              <a:rPr lang="en-US" sz="1200" dirty="0"/>
              <a:t>If yes, did we do anything different that helped us?</a:t>
            </a:r>
          </a:p>
          <a:p>
            <a:pPr lvl="3"/>
            <a:r>
              <a:rPr lang="en-US" sz="1200" dirty="0"/>
              <a:t>If no, is there anything we could do differently next time?</a:t>
            </a:r>
          </a:p>
        </p:txBody>
      </p:sp>
    </p:spTree>
    <p:extLst>
      <p:ext uri="{BB962C8B-B14F-4D97-AF65-F5344CB8AC3E}">
        <p14:creationId xmlns:p14="http://schemas.microsoft.com/office/powerpoint/2010/main" val="7451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7136-5686-F1C2-1824-F68588A271F8}"/>
              </a:ext>
            </a:extLst>
          </p:cNvPr>
          <p:cNvSpPr>
            <a:spLocks noGrp="1"/>
          </p:cNvSpPr>
          <p:nvPr>
            <p:ph type="title"/>
          </p:nvPr>
        </p:nvSpPr>
        <p:spPr/>
        <p:txBody>
          <a:bodyPr/>
          <a:lstStyle/>
          <a:p>
            <a:r>
              <a:rPr lang="en-GB" dirty="0"/>
              <a:t>Setting better sprint Goals</a:t>
            </a:r>
          </a:p>
        </p:txBody>
      </p:sp>
      <p:sp>
        <p:nvSpPr>
          <p:cNvPr id="3" name="Content Placeholder 2">
            <a:extLst>
              <a:ext uri="{FF2B5EF4-FFF2-40B4-BE49-F238E27FC236}">
                <a16:creationId xmlns:a16="http://schemas.microsoft.com/office/drawing/2014/main" id="{3C9B946D-5180-88CA-8B45-82CC61698803}"/>
              </a:ext>
            </a:extLst>
          </p:cNvPr>
          <p:cNvSpPr>
            <a:spLocks noGrp="1"/>
          </p:cNvSpPr>
          <p:nvPr>
            <p:ph idx="1"/>
          </p:nvPr>
        </p:nvSpPr>
        <p:spPr/>
        <p:txBody>
          <a:bodyPr/>
          <a:lstStyle/>
          <a:p>
            <a:pPr lvl="1"/>
            <a:r>
              <a:rPr lang="en-US" dirty="0"/>
              <a:t>Useful/Valuable</a:t>
            </a:r>
          </a:p>
          <a:p>
            <a:pPr lvl="2"/>
            <a:r>
              <a:rPr lang="en-US" dirty="0"/>
              <a:t>Has an “Outcome” rather than “Output” (i.e. number of tickets closed)</a:t>
            </a:r>
          </a:p>
          <a:p>
            <a:pPr lvl="1"/>
            <a:r>
              <a:rPr lang="en-US" dirty="0"/>
              <a:t>Measurable</a:t>
            </a:r>
          </a:p>
          <a:p>
            <a:pPr lvl="1"/>
            <a:r>
              <a:rPr lang="en-US" dirty="0"/>
              <a:t>Flexible</a:t>
            </a:r>
          </a:p>
          <a:p>
            <a:pPr lvl="1"/>
            <a:r>
              <a:rPr lang="en-US" dirty="0"/>
              <a:t>Achievable</a:t>
            </a:r>
          </a:p>
          <a:p>
            <a:pPr lvl="1"/>
            <a:r>
              <a:rPr lang="en-US" dirty="0"/>
              <a:t>Does not prevent you from doing other work, e.g.</a:t>
            </a:r>
          </a:p>
          <a:p>
            <a:pPr lvl="2"/>
            <a:r>
              <a:rPr lang="en-US" dirty="0"/>
              <a:t>Unplanned work</a:t>
            </a:r>
          </a:p>
          <a:p>
            <a:pPr lvl="2"/>
            <a:r>
              <a:rPr lang="en-US" dirty="0"/>
              <a:t>Tech Debt</a:t>
            </a:r>
          </a:p>
          <a:p>
            <a:pPr lvl="2"/>
            <a:r>
              <a:rPr lang="en-US" dirty="0"/>
              <a:t>Bug Fixes</a:t>
            </a:r>
          </a:p>
          <a:p>
            <a:pPr lvl="1"/>
            <a:r>
              <a:rPr lang="en-US" dirty="0"/>
              <a:t>Determined by the whole Scrum Team</a:t>
            </a:r>
          </a:p>
        </p:txBody>
      </p:sp>
    </p:spTree>
    <p:extLst>
      <p:ext uri="{BB962C8B-B14F-4D97-AF65-F5344CB8AC3E}">
        <p14:creationId xmlns:p14="http://schemas.microsoft.com/office/powerpoint/2010/main" val="22142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7136-5686-F1C2-1824-F68588A271F8}"/>
              </a:ext>
            </a:extLst>
          </p:cNvPr>
          <p:cNvSpPr>
            <a:spLocks noGrp="1"/>
          </p:cNvSpPr>
          <p:nvPr>
            <p:ph type="title"/>
          </p:nvPr>
        </p:nvSpPr>
        <p:spPr/>
        <p:txBody>
          <a:bodyPr/>
          <a:lstStyle/>
          <a:p>
            <a:r>
              <a:rPr lang="en-GB" dirty="0"/>
              <a:t>Challenges/Objections</a:t>
            </a:r>
          </a:p>
        </p:txBody>
      </p:sp>
      <p:sp>
        <p:nvSpPr>
          <p:cNvPr id="3" name="Content Placeholder 2">
            <a:extLst>
              <a:ext uri="{FF2B5EF4-FFF2-40B4-BE49-F238E27FC236}">
                <a16:creationId xmlns:a16="http://schemas.microsoft.com/office/drawing/2014/main" id="{3C9B946D-5180-88CA-8B45-82CC61698803}"/>
              </a:ext>
            </a:extLst>
          </p:cNvPr>
          <p:cNvSpPr>
            <a:spLocks noGrp="1"/>
          </p:cNvSpPr>
          <p:nvPr>
            <p:ph idx="1"/>
          </p:nvPr>
        </p:nvSpPr>
        <p:spPr/>
        <p:txBody>
          <a:bodyPr/>
          <a:lstStyle/>
          <a:p>
            <a:pPr lvl="1"/>
            <a:r>
              <a:rPr lang="en-US" dirty="0"/>
              <a:t>We can’t set a single sprint goal</a:t>
            </a:r>
          </a:p>
          <a:p>
            <a:pPr lvl="2"/>
            <a:r>
              <a:rPr lang="en-US" dirty="0"/>
              <a:t>Everyone is working on a different area of the product</a:t>
            </a:r>
          </a:p>
          <a:p>
            <a:pPr lvl="2"/>
            <a:r>
              <a:rPr lang="en-US" dirty="0"/>
              <a:t>Everyone is working on different projects</a:t>
            </a:r>
          </a:p>
          <a:p>
            <a:pPr lvl="1"/>
            <a:r>
              <a:rPr lang="en-US" dirty="0"/>
              <a:t>We can’t fit the work in to a sprint</a:t>
            </a:r>
          </a:p>
          <a:p>
            <a:pPr lvl="1"/>
            <a:r>
              <a:rPr lang="en-US" dirty="0"/>
              <a:t>We need to build the back end before we can build the front end</a:t>
            </a:r>
          </a:p>
          <a:p>
            <a:pPr lvl="1"/>
            <a:r>
              <a:rPr lang="en-US" dirty="0"/>
              <a:t>We don’t understand the Product Goal</a:t>
            </a:r>
          </a:p>
          <a:p>
            <a:pPr lvl="1"/>
            <a:r>
              <a:rPr lang="en-US" dirty="0"/>
              <a:t>We don’t have enough stories groomed</a:t>
            </a:r>
          </a:p>
        </p:txBody>
      </p:sp>
    </p:spTree>
    <p:extLst>
      <p:ext uri="{BB962C8B-B14F-4D97-AF65-F5344CB8AC3E}">
        <p14:creationId xmlns:p14="http://schemas.microsoft.com/office/powerpoint/2010/main" val="3071464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7136-5686-F1C2-1824-F68588A271F8}"/>
              </a:ext>
            </a:extLst>
          </p:cNvPr>
          <p:cNvSpPr>
            <a:spLocks noGrp="1"/>
          </p:cNvSpPr>
          <p:nvPr>
            <p:ph type="title"/>
          </p:nvPr>
        </p:nvSpPr>
        <p:spPr/>
        <p:txBody>
          <a:bodyPr/>
          <a:lstStyle/>
          <a:p>
            <a:r>
              <a:rPr lang="en-GB" dirty="0"/>
              <a:t>How does this apply to me?</a:t>
            </a:r>
          </a:p>
        </p:txBody>
      </p:sp>
      <p:sp>
        <p:nvSpPr>
          <p:cNvPr id="3" name="Content Placeholder 2">
            <a:extLst>
              <a:ext uri="{FF2B5EF4-FFF2-40B4-BE49-F238E27FC236}">
                <a16:creationId xmlns:a16="http://schemas.microsoft.com/office/drawing/2014/main" id="{3C9B946D-5180-88CA-8B45-82CC61698803}"/>
              </a:ext>
            </a:extLst>
          </p:cNvPr>
          <p:cNvSpPr>
            <a:spLocks noGrp="1"/>
          </p:cNvSpPr>
          <p:nvPr>
            <p:ph idx="1"/>
          </p:nvPr>
        </p:nvSpPr>
        <p:spPr/>
        <p:txBody>
          <a:bodyPr/>
          <a:lstStyle/>
          <a:p>
            <a:pPr lvl="1"/>
            <a:r>
              <a:rPr lang="en-US"/>
              <a:t>d</a:t>
            </a:r>
            <a:endParaRPr lang="en-US" dirty="0"/>
          </a:p>
        </p:txBody>
      </p:sp>
    </p:spTree>
    <p:extLst>
      <p:ext uri="{BB962C8B-B14F-4D97-AF65-F5344CB8AC3E}">
        <p14:creationId xmlns:p14="http://schemas.microsoft.com/office/powerpoint/2010/main" val="2962061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9148_TF33552983" id="{961483DA-4BD3-44EC-967F-28A9E73D864F}" vid="{5CA6A686-A782-4144-9C39-0617ED3EC6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{4BF0EAEF-8F87-48D5-A247-4C0CE723D8BE}tf33552983_win32</Template>
  <TotalTime>338</TotalTime>
  <Words>1127</Words>
  <Application>Microsoft Office PowerPoint</Application>
  <PresentationFormat>Widescreen</PresentationFormat>
  <Paragraphs>128</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Franklin Gothic Book</vt:lpstr>
      <vt:lpstr>Franklin Gothic Demi</vt:lpstr>
      <vt:lpstr>Wingdings 2</vt:lpstr>
      <vt:lpstr>DividendVTI</vt:lpstr>
      <vt:lpstr>Shooting for the (Sprint) Goal </vt:lpstr>
      <vt:lpstr>Paul Axon</vt:lpstr>
      <vt:lpstr>Shooting for the (sprint) goal</vt:lpstr>
      <vt:lpstr>What is scrum?</vt:lpstr>
      <vt:lpstr>The Sprint Goal</vt:lpstr>
      <vt:lpstr>Why Set A Sprint Goal?</vt:lpstr>
      <vt:lpstr>Benefits of a Sprint Goal - focus &amp; COHERENCE</vt:lpstr>
      <vt:lpstr>Benefits of a Sprint Goal - Delivering something useful every sprint</vt:lpstr>
      <vt:lpstr>Benefits of a Sprint Goal - Better meetings</vt:lpstr>
      <vt:lpstr>Setting better sprint Goals</vt:lpstr>
      <vt:lpstr>Challenges/Objections</vt:lpstr>
      <vt:lpstr>How does this apply to 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Shooting for the (Sprint) Goal </dc:title>
  <dc:creator>Paul Axon</dc:creator>
  <cp:lastModifiedBy>Paul Axon</cp:lastModifiedBy>
  <cp:revision>7</cp:revision>
  <dcterms:created xsi:type="dcterms:W3CDTF">2023-04-25T10:54:40Z</dcterms:created>
  <dcterms:modified xsi:type="dcterms:W3CDTF">2023-04-25T16:33:06Z</dcterms:modified>
</cp:coreProperties>
</file>